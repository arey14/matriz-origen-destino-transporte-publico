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82367"/>
            <a:ext cx="406907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6197"/>
            <a:ext cx="449262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1008100"/>
            <a:ext cx="5116830" cy="960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38685" y="2973571"/>
            <a:ext cx="171450" cy="176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70">
                <a:solidFill>
                  <a:srgbClr val="22373A"/>
                </a:solidFill>
              </a:rPr>
              <a:t>Matriz</a:t>
            </a:r>
            <a:r>
              <a:rPr dirty="0" sz="1400" spc="40">
                <a:solidFill>
                  <a:srgbClr val="22373A"/>
                </a:solidFill>
              </a:rPr>
              <a:t> </a:t>
            </a:r>
            <a:r>
              <a:rPr dirty="0" sz="1400" spc="-170">
                <a:solidFill>
                  <a:srgbClr val="22373A"/>
                </a:solidFill>
              </a:rPr>
              <a:t>de</a:t>
            </a:r>
            <a:r>
              <a:rPr dirty="0" sz="1400" spc="55">
                <a:solidFill>
                  <a:srgbClr val="22373A"/>
                </a:solidFill>
              </a:rPr>
              <a:t> </a:t>
            </a:r>
            <a:r>
              <a:rPr dirty="0" sz="1400" spc="-110">
                <a:solidFill>
                  <a:srgbClr val="22373A"/>
                </a:solidFill>
              </a:rPr>
              <a:t>Origen-</a:t>
            </a:r>
            <a:r>
              <a:rPr dirty="0" sz="1400" spc="-105">
                <a:solidFill>
                  <a:srgbClr val="22373A"/>
                </a:solidFill>
              </a:rPr>
              <a:t>Destino</a:t>
            </a:r>
            <a:r>
              <a:rPr dirty="0" sz="1400" spc="50">
                <a:solidFill>
                  <a:srgbClr val="22373A"/>
                </a:solidFill>
              </a:rPr>
              <a:t> </a:t>
            </a:r>
            <a:r>
              <a:rPr dirty="0" sz="1400" spc="-170">
                <a:solidFill>
                  <a:srgbClr val="22373A"/>
                </a:solidFill>
              </a:rPr>
              <a:t>de</a:t>
            </a:r>
            <a:r>
              <a:rPr dirty="0" sz="1400" spc="55">
                <a:solidFill>
                  <a:srgbClr val="22373A"/>
                </a:solidFill>
              </a:rPr>
              <a:t> </a:t>
            </a:r>
            <a:r>
              <a:rPr dirty="0" sz="1400" spc="-140">
                <a:solidFill>
                  <a:srgbClr val="22373A"/>
                </a:solidFill>
              </a:rPr>
              <a:t>Transporte</a:t>
            </a:r>
            <a:r>
              <a:rPr dirty="0" sz="1400" spc="50">
                <a:solidFill>
                  <a:srgbClr val="22373A"/>
                </a:solidFill>
              </a:rPr>
              <a:t> </a:t>
            </a:r>
            <a:r>
              <a:rPr dirty="0" sz="1400" spc="-100">
                <a:solidFill>
                  <a:srgbClr val="22373A"/>
                </a:solidFill>
              </a:rPr>
              <a:t>Público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7294" y="1207538"/>
            <a:ext cx="36525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>
                <a:solidFill>
                  <a:srgbClr val="22373A"/>
                </a:solidFill>
                <a:latin typeface="Trebuchet MS"/>
                <a:cs typeface="Trebuchet MS"/>
              </a:rPr>
              <a:t>Presentación</a:t>
            </a:r>
            <a:r>
              <a:rPr dirty="0" sz="1200" spc="-25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90">
                <a:solidFill>
                  <a:srgbClr val="22373A"/>
                </a:solidFill>
                <a:latin typeface="Trebuchet MS"/>
                <a:cs typeface="Trebuchet MS"/>
              </a:rPr>
              <a:t>de</a:t>
            </a:r>
            <a:r>
              <a:rPr dirty="0" sz="120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22373A"/>
                </a:solidFill>
                <a:latin typeface="Trebuchet MS"/>
                <a:cs typeface="Trebuchet MS"/>
              </a:rPr>
              <a:t>Avances</a:t>
            </a:r>
            <a:r>
              <a:rPr dirty="0" sz="120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130">
                <a:solidFill>
                  <a:srgbClr val="22373A"/>
                </a:solidFill>
                <a:latin typeface="Trebuchet MS"/>
                <a:cs typeface="Trebuchet MS"/>
              </a:rPr>
              <a:t>e</a:t>
            </a:r>
            <a:r>
              <a:rPr dirty="0" sz="1200" spc="25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22373A"/>
                </a:solidFill>
                <a:latin typeface="Trebuchet MS"/>
                <a:cs typeface="Trebuchet MS"/>
              </a:rPr>
              <a:t>Integración</a:t>
            </a:r>
            <a:r>
              <a:rPr dirty="0" sz="120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90">
                <a:solidFill>
                  <a:srgbClr val="22373A"/>
                </a:solidFill>
                <a:latin typeface="Trebuchet MS"/>
                <a:cs typeface="Trebuchet MS"/>
              </a:rPr>
              <a:t>de</a:t>
            </a:r>
            <a:r>
              <a:rPr dirty="0" sz="120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22373A"/>
                </a:solidFill>
                <a:latin typeface="Trebuchet MS"/>
                <a:cs typeface="Trebuchet MS"/>
              </a:rPr>
              <a:t>Feedback</a:t>
            </a:r>
            <a:r>
              <a:rPr dirty="0" sz="1200" spc="5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22373A"/>
                </a:solidFill>
                <a:latin typeface="Trebuchet MS"/>
                <a:cs typeface="Trebuchet MS"/>
              </a:rPr>
              <a:t>(TP3)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64080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3128" y="1879898"/>
            <a:ext cx="1102360" cy="4381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Augusto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Rey</a:t>
            </a:r>
            <a:endParaRPr sz="100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spcBef>
                <a:spcPts val="420"/>
              </a:spcBef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11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Junio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2026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Problemática</a:t>
            </a:r>
            <a:r>
              <a:rPr dirty="0" spc="50"/>
              <a:t> </a:t>
            </a:r>
            <a:r>
              <a:rPr dirty="0" spc="-160"/>
              <a:t>de</a:t>
            </a:r>
            <a:r>
              <a:rPr dirty="0" spc="50"/>
              <a:t> </a:t>
            </a:r>
            <a:r>
              <a:rPr dirty="0" spc="-140"/>
              <a:t>la</a:t>
            </a:r>
            <a:r>
              <a:rPr dirty="0" spc="50"/>
              <a:t> </a:t>
            </a:r>
            <a:r>
              <a:rPr dirty="0" spc="-114"/>
              <a:t>Movilidad</a:t>
            </a:r>
            <a:r>
              <a:rPr dirty="0" spc="50"/>
              <a:t> </a:t>
            </a:r>
            <a:r>
              <a:rPr dirty="0" spc="-160"/>
              <a:t>en</a:t>
            </a:r>
            <a:r>
              <a:rPr dirty="0" spc="50"/>
              <a:t> </a:t>
            </a:r>
            <a:r>
              <a:rPr dirty="0" spc="-150"/>
              <a:t>el</a:t>
            </a:r>
            <a:r>
              <a:rPr dirty="0" spc="50"/>
              <a:t> </a:t>
            </a:r>
            <a:r>
              <a:rPr dirty="0" spc="-20"/>
              <a:t>AMBA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914360"/>
            <a:ext cx="4997450" cy="1417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Factores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Críticos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en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el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Territorio</a:t>
            </a:r>
            <a:endParaRPr sz="1100">
              <a:latin typeface="Arial Black"/>
              <a:cs typeface="Arial Black"/>
            </a:endParaRPr>
          </a:p>
          <a:p>
            <a:pPr marL="289560" marR="5080" indent="-168275">
              <a:lnSpc>
                <a:spcPct val="114599"/>
              </a:lnSpc>
              <a:spcBef>
                <a:spcPts val="1395"/>
              </a:spcBef>
              <a:buFont typeface="Tahoma"/>
              <a:buChar char="•"/>
              <a:tabLst>
                <a:tab pos="289560" algn="l"/>
              </a:tabLst>
            </a:pPr>
            <a:r>
              <a:rPr dirty="0" sz="1000" spc="-125">
                <a:solidFill>
                  <a:srgbClr val="22373A"/>
                </a:solidFill>
                <a:latin typeface="Arial Black"/>
                <a:cs typeface="Arial Black"/>
              </a:rPr>
              <a:t>Fragmentación</a:t>
            </a:r>
            <a:r>
              <a:rPr dirty="0" sz="10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22373A"/>
                </a:solidFill>
                <a:latin typeface="Arial Black"/>
                <a:cs typeface="Arial Black"/>
              </a:rPr>
              <a:t>Espacial</a:t>
            </a:r>
            <a:r>
              <a:rPr dirty="0" sz="1000" spc="-114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1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Crecimiento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periférico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(PBA)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desvinculado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del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empleo</a:t>
            </a:r>
            <a:r>
              <a:rPr dirty="0" sz="1000" spc="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formal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centralizado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(CABA).</a:t>
            </a:r>
            <a:endParaRPr sz="1000">
              <a:latin typeface="Tahoma"/>
              <a:cs typeface="Tahoma"/>
            </a:endParaRPr>
          </a:p>
          <a:p>
            <a:pPr marL="289560" marR="302260" indent="-168275">
              <a:lnSpc>
                <a:spcPct val="114599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Intermodalidad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95">
                <a:solidFill>
                  <a:srgbClr val="22373A"/>
                </a:solidFill>
                <a:latin typeface="Arial Black"/>
                <a:cs typeface="Arial Black"/>
              </a:rPr>
              <a:t>Forzada</a:t>
            </a:r>
            <a:r>
              <a:rPr dirty="0" sz="1000" spc="-9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Commuters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periferia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obligados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realizar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múltiples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combinaciones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(colectivo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tren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subte)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por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falta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recorridos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directos.</a:t>
            </a:r>
            <a:endParaRPr sz="1000">
              <a:latin typeface="Tahoma"/>
              <a:cs typeface="Tahoma"/>
            </a:endParaRPr>
          </a:p>
          <a:p>
            <a:pPr marL="289560" marR="374015" indent="-168275">
              <a:lnSpc>
                <a:spcPct val="114599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100">
                <a:solidFill>
                  <a:srgbClr val="22373A"/>
                </a:solidFill>
                <a:latin typeface="Arial Black"/>
                <a:cs typeface="Arial Black"/>
              </a:rPr>
              <a:t>Vulnerabilidad</a:t>
            </a:r>
            <a:r>
              <a:rPr dirty="0" sz="1000" spc="-10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6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sectores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Tahoma"/>
                <a:cs typeface="Tahoma"/>
              </a:rPr>
              <a:t>menores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ingresos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sufren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mayor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fricción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física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y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económica.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23164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Objetivos</a:t>
            </a:r>
            <a:r>
              <a:rPr dirty="0" spc="80"/>
              <a:t> </a:t>
            </a:r>
            <a:r>
              <a:rPr dirty="0" spc="-140"/>
              <a:t>Principales</a:t>
            </a:r>
            <a:r>
              <a:rPr dirty="0" spc="80"/>
              <a:t> </a:t>
            </a:r>
            <a:r>
              <a:rPr dirty="0" spc="-145"/>
              <a:t>del</a:t>
            </a:r>
            <a:r>
              <a:rPr dirty="0" spc="80"/>
              <a:t> </a:t>
            </a:r>
            <a:r>
              <a:rPr dirty="0" spc="-114"/>
              <a:t>Trabajo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901025"/>
            <a:ext cx="4936490" cy="1417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Metas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y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70">
                <a:solidFill>
                  <a:srgbClr val="22373A"/>
                </a:solidFill>
                <a:latin typeface="Arial Black"/>
                <a:cs typeface="Arial Black"/>
              </a:rPr>
              <a:t>Alcances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 Black"/>
                <a:cs typeface="Arial Black"/>
              </a:rPr>
              <a:t>Científicos</a:t>
            </a:r>
            <a:endParaRPr sz="1100">
              <a:latin typeface="Arial Black"/>
              <a:cs typeface="Arial Black"/>
            </a:endParaRPr>
          </a:p>
          <a:p>
            <a:pPr marL="289560" marR="5080" indent="-168275">
              <a:lnSpc>
                <a:spcPct val="114599"/>
              </a:lnSpc>
              <a:spcBef>
                <a:spcPts val="1395"/>
              </a:spcBef>
              <a:buFont typeface="Tahoma"/>
              <a:buAutoNum type="arabicPeriod"/>
              <a:tabLst>
                <a:tab pos="289560" algn="l"/>
              </a:tabLst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Modelado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14">
                <a:solidFill>
                  <a:srgbClr val="22373A"/>
                </a:solidFill>
                <a:latin typeface="Arial Black"/>
                <a:cs typeface="Arial Black"/>
              </a:rPr>
              <a:t>Espacial</a:t>
            </a:r>
            <a:r>
              <a:rPr dirty="0" sz="1000" spc="-114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Construir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agregar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matrices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viaje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origen-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destino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usando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datos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masivos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SUBE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bajo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grilla H3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(resolución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8).</a:t>
            </a:r>
            <a:endParaRPr sz="1000">
              <a:latin typeface="Tahoma"/>
              <a:cs typeface="Tahoma"/>
            </a:endParaRPr>
          </a:p>
          <a:p>
            <a:pPr marL="289560" marR="358140" indent="-168275">
              <a:lnSpc>
                <a:spcPct val="114599"/>
              </a:lnSpc>
              <a:buFont typeface="Tahoma"/>
              <a:buAutoNum type="arabicPeriod"/>
              <a:tabLst>
                <a:tab pos="289560" algn="l"/>
              </a:tabLst>
            </a:pPr>
            <a:r>
              <a:rPr dirty="0" sz="1000" spc="-114">
                <a:solidFill>
                  <a:srgbClr val="22373A"/>
                </a:solidFill>
                <a:latin typeface="Arial Black"/>
                <a:cs typeface="Arial Black"/>
              </a:rPr>
              <a:t>Ingeniería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Características</a:t>
            </a:r>
            <a:r>
              <a:rPr dirty="0" sz="1000" spc="-12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Formular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métricas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viaje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(IFI)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e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transbordo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(IFT).</a:t>
            </a:r>
            <a:endParaRPr sz="1000">
              <a:latin typeface="Tahoma"/>
              <a:cs typeface="Tahoma"/>
            </a:endParaRPr>
          </a:p>
          <a:p>
            <a:pPr marL="289560" marR="291465" indent="-168275">
              <a:lnSpc>
                <a:spcPct val="114599"/>
              </a:lnSpc>
              <a:buFont typeface="Tahoma"/>
              <a:buAutoNum type="arabicPeriod"/>
              <a:tabLst>
                <a:tab pos="289560" algn="l"/>
              </a:tabLst>
            </a:pPr>
            <a:r>
              <a:rPr dirty="0" sz="1000" spc="-125">
                <a:solidFill>
                  <a:srgbClr val="22373A"/>
                </a:solidFill>
                <a:latin typeface="Arial Black"/>
                <a:cs typeface="Arial Black"/>
              </a:rPr>
              <a:t>Análisis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50">
                <a:solidFill>
                  <a:srgbClr val="22373A"/>
                </a:solidFill>
                <a:latin typeface="Arial Black"/>
                <a:cs typeface="Arial Black"/>
              </a:rPr>
              <a:t>Redes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y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Arial Black"/>
                <a:cs typeface="Arial Black"/>
              </a:rPr>
              <a:t>Equidad</a:t>
            </a:r>
            <a:r>
              <a:rPr dirty="0" sz="1000" spc="-9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Cruzar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las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centralidades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estructurales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del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grafo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de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transporte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porcentaje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Tarifa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Social.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Integración</a:t>
            </a:r>
            <a:r>
              <a:rPr dirty="0" spc="3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45"/>
              <a:t>Feedback:</a:t>
            </a:r>
            <a:r>
              <a:rPr dirty="0" spc="160"/>
              <a:t> </a:t>
            </a:r>
            <a:r>
              <a:rPr dirty="0" spc="-125"/>
              <a:t>Distribución</a:t>
            </a:r>
            <a:r>
              <a:rPr dirty="0" spc="30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40"/>
              <a:t>IFI</a:t>
            </a:r>
            <a:r>
              <a:rPr dirty="0" spc="30"/>
              <a:t> </a:t>
            </a:r>
            <a:r>
              <a:rPr dirty="0" spc="315"/>
              <a:t>/</a:t>
            </a:r>
            <a:r>
              <a:rPr dirty="0" spc="35"/>
              <a:t> </a:t>
            </a:r>
            <a:r>
              <a:rPr dirty="0" spc="-25"/>
              <a:t>IFT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717269"/>
            <a:ext cx="4954270" cy="1911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solidFill>
                  <a:srgbClr val="22373A"/>
                </a:solidFill>
                <a:latin typeface="Arial Black"/>
                <a:cs typeface="Arial Black"/>
              </a:rPr>
              <a:t>Hallazgos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22373A"/>
                </a:solidFill>
                <a:latin typeface="Arial Black"/>
                <a:cs typeface="Arial Black"/>
              </a:rPr>
              <a:t>la</a:t>
            </a:r>
            <a:r>
              <a:rPr dirty="0" sz="1100" spc="6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22373A"/>
                </a:solidFill>
                <a:latin typeface="Arial Black"/>
                <a:cs typeface="Arial Black"/>
              </a:rPr>
              <a:t>Distribución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Jurisdiccional</a:t>
            </a:r>
            <a:endParaRPr sz="1100">
              <a:latin typeface="Arial Black"/>
              <a:cs typeface="Arial Black"/>
            </a:endParaRPr>
          </a:p>
          <a:p>
            <a:pPr marL="290195" indent="-177800">
              <a:lnSpc>
                <a:spcPct val="100000"/>
              </a:lnSpc>
              <a:spcBef>
                <a:spcPts val="1055"/>
              </a:spcBef>
              <a:buFont typeface="Tahoma"/>
              <a:buChar char="•"/>
              <a:tabLst>
                <a:tab pos="290195" algn="l"/>
              </a:tabLst>
            </a:pPr>
            <a:r>
              <a:rPr dirty="0" sz="1100" spc="-45">
                <a:solidFill>
                  <a:srgbClr val="22373A"/>
                </a:solidFill>
                <a:latin typeface="Arial Black"/>
                <a:cs typeface="Arial Black"/>
              </a:rPr>
              <a:t>IFI</a:t>
            </a:r>
            <a:r>
              <a:rPr dirty="0" sz="11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22373A"/>
                </a:solidFill>
                <a:latin typeface="Arial Black"/>
                <a:cs typeface="Arial Black"/>
              </a:rPr>
              <a:t>(Ineficiencia</a:t>
            </a:r>
            <a:r>
              <a:rPr dirty="0" sz="11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Viaje)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lvl="1" marL="566420" indent="-167640">
              <a:lnSpc>
                <a:spcPct val="100000"/>
              </a:lnSpc>
              <a:spcBef>
                <a:spcPts val="155"/>
              </a:spcBef>
              <a:buFont typeface="Tahoma"/>
              <a:buChar char="•"/>
              <a:tabLst>
                <a:tab pos="566420" algn="l"/>
              </a:tabLst>
            </a:pPr>
            <a:r>
              <a:rPr dirty="0" sz="1000" spc="-20" i="1">
                <a:solidFill>
                  <a:srgbClr val="22373A"/>
                </a:solidFill>
                <a:latin typeface="Arial"/>
                <a:cs typeface="Arial"/>
              </a:rPr>
              <a:t>Intra-CABA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Muy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baja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distribución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concentrada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(viajes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directos).</a:t>
            </a:r>
            <a:endParaRPr sz="1000">
              <a:latin typeface="Tahoma"/>
              <a:cs typeface="Tahoma"/>
            </a:endParaRPr>
          </a:p>
          <a:p>
            <a:pPr lvl="1" marL="56642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566420" algn="l"/>
              </a:tabLst>
            </a:pPr>
            <a:r>
              <a:rPr dirty="0" sz="1000" spc="-10" i="1">
                <a:solidFill>
                  <a:srgbClr val="22373A"/>
                </a:solidFill>
                <a:latin typeface="Arial"/>
                <a:cs typeface="Arial"/>
              </a:rPr>
              <a:t>Intra-PBA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Alta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dispersión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(rodeos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trayectos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periféricos).</a:t>
            </a:r>
            <a:endParaRPr sz="1000">
              <a:latin typeface="Tahoma"/>
              <a:cs typeface="Tahoma"/>
            </a:endParaRPr>
          </a:p>
          <a:p>
            <a:pPr lvl="1" marL="566420" marR="146050" indent="-168275">
              <a:lnSpc>
                <a:spcPct val="114599"/>
              </a:lnSpc>
              <a:buFont typeface="Tahoma"/>
              <a:buChar char="•"/>
              <a:tabLst>
                <a:tab pos="566420" algn="l"/>
              </a:tabLst>
            </a:pPr>
            <a:r>
              <a:rPr dirty="0" sz="1000" spc="-25" i="1">
                <a:solidFill>
                  <a:srgbClr val="22373A"/>
                </a:solidFill>
                <a:latin typeface="Arial"/>
                <a:cs typeface="Arial"/>
              </a:rPr>
              <a:t>PBA-</a:t>
            </a:r>
            <a:r>
              <a:rPr dirty="0" sz="1000" i="1">
                <a:solidFill>
                  <a:srgbClr val="22373A"/>
                </a:solidFill>
                <a:latin typeface="Arial"/>
                <a:cs typeface="Arial"/>
              </a:rPr>
              <a:t>CABA</a:t>
            </a:r>
            <a:r>
              <a:rPr dirty="0" sz="1000" spc="3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22373A"/>
                </a:solidFill>
                <a:latin typeface="Arial"/>
                <a:cs typeface="Arial"/>
              </a:rPr>
              <a:t>(Interjurisdiccional)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media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más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alta,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confirmando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el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costo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físico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ingresar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corredores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radiales.</a:t>
            </a:r>
            <a:endParaRPr sz="10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259"/>
              </a:spcBef>
              <a:buFont typeface="Tahoma"/>
              <a:buChar char="•"/>
              <a:tabLst>
                <a:tab pos="290195" algn="l"/>
              </a:tabLst>
            </a:pP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IFT</a:t>
            </a:r>
            <a:r>
              <a:rPr dirty="0" sz="1100" spc="-1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(Fricción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 Black"/>
                <a:cs typeface="Arial Black"/>
              </a:rPr>
              <a:t>Transbordo)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algn="just" lvl="1" marL="566420" marR="5080" indent="-168275">
              <a:lnSpc>
                <a:spcPts val="1370"/>
              </a:lnSpc>
              <a:spcBef>
                <a:spcPts val="55"/>
              </a:spcBef>
              <a:buChar char="•"/>
              <a:tabLst>
                <a:tab pos="56642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viaje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promedio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PBA-</a:t>
            </a:r>
            <a:r>
              <a:rPr dirty="0" sz="1000" spc="50">
                <a:solidFill>
                  <a:srgbClr val="22373A"/>
                </a:solidFill>
                <a:latin typeface="Tahoma"/>
                <a:cs typeface="Tahoma"/>
              </a:rPr>
              <a:t>CABA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acumula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más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5">
                <a:solidFill>
                  <a:srgbClr val="22373A"/>
                </a:solidFill>
                <a:latin typeface="Arial Black"/>
                <a:cs typeface="Arial Black"/>
              </a:rPr>
              <a:t>1.6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transbordos</a:t>
            </a:r>
            <a:r>
              <a:rPr dirty="0" sz="1000" spc="-120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dirty="0" sz="1000" spc="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frente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solo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Arial Black"/>
                <a:cs typeface="Arial Black"/>
              </a:rPr>
              <a:t>0.3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viajes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internos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CABA,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reflejando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una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dependencia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estructural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extrema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las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conexiones.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Distribución</a:t>
            </a:r>
            <a:r>
              <a:rPr dirty="0" spc="2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40"/>
              <a:t>IFI</a:t>
            </a:r>
            <a:r>
              <a:rPr dirty="0" spc="-45"/>
              <a:t> </a:t>
            </a:r>
            <a:r>
              <a:rPr dirty="0" spc="315"/>
              <a:t>/</a:t>
            </a:r>
            <a:r>
              <a:rPr dirty="0" spc="10"/>
              <a:t> </a:t>
            </a:r>
            <a:r>
              <a:rPr dirty="0"/>
              <a:t>IFT</a:t>
            </a:r>
            <a:r>
              <a:rPr dirty="0" spc="10"/>
              <a:t> </a:t>
            </a:r>
            <a:r>
              <a:rPr dirty="0" spc="-125"/>
              <a:t>por</a:t>
            </a:r>
            <a:r>
              <a:rPr dirty="0" spc="25"/>
              <a:t> </a:t>
            </a:r>
            <a:r>
              <a:rPr dirty="0" spc="-140"/>
              <a:t>Jurisdicción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423377"/>
            <a:ext cx="5040012" cy="21600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1095" y="2654952"/>
            <a:ext cx="3778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Figure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1:</a:t>
            </a:r>
            <a:r>
              <a:rPr dirty="0" sz="1000" spc="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Boxplots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descriptivos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IFI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IFT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por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tipo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flujo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viaje.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Integración</a:t>
            </a:r>
            <a:r>
              <a:rPr dirty="0" spc="40"/>
              <a:t> </a:t>
            </a:r>
            <a:r>
              <a:rPr dirty="0" spc="-160"/>
              <a:t>de</a:t>
            </a:r>
            <a:r>
              <a:rPr dirty="0" spc="40"/>
              <a:t> </a:t>
            </a:r>
            <a:r>
              <a:rPr dirty="0" spc="-145"/>
              <a:t>Feedback:</a:t>
            </a:r>
            <a:r>
              <a:rPr dirty="0" spc="185"/>
              <a:t> </a:t>
            </a:r>
            <a:r>
              <a:rPr dirty="0" spc="-135"/>
              <a:t>Métricas</a:t>
            </a:r>
            <a:r>
              <a:rPr dirty="0" spc="45"/>
              <a:t> </a:t>
            </a:r>
            <a:r>
              <a:rPr dirty="0" spc="-160"/>
              <a:t>de</a:t>
            </a:r>
            <a:r>
              <a:rPr dirty="0" spc="40"/>
              <a:t> </a:t>
            </a:r>
            <a:r>
              <a:rPr dirty="0" spc="-125"/>
              <a:t>Grafos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639062"/>
            <a:ext cx="5065395" cy="1940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solidFill>
                  <a:srgbClr val="22373A"/>
                </a:solidFill>
                <a:latin typeface="Arial Black"/>
                <a:cs typeface="Arial Black"/>
              </a:rPr>
              <a:t>Representación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22373A"/>
                </a:solidFill>
                <a:latin typeface="Arial Black"/>
                <a:cs typeface="Arial Black"/>
              </a:rPr>
              <a:t>Física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en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0">
                <a:solidFill>
                  <a:srgbClr val="22373A"/>
                </a:solidFill>
                <a:latin typeface="Arial Black"/>
                <a:cs typeface="Arial Black"/>
              </a:rPr>
              <a:t>Dijkstra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y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 Black"/>
                <a:cs typeface="Arial Black"/>
              </a:rPr>
              <a:t>Centralidades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Black"/>
              <a:cs typeface="Arial Black"/>
            </a:endParaRPr>
          </a:p>
          <a:p>
            <a:pPr marL="289560" indent="-167640">
              <a:lnSpc>
                <a:spcPct val="100000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155">
                <a:solidFill>
                  <a:srgbClr val="22373A"/>
                </a:solidFill>
                <a:latin typeface="Arial Black"/>
                <a:cs typeface="Arial Black"/>
              </a:rPr>
              <a:t>Pesos</a:t>
            </a:r>
            <a:r>
              <a:rPr dirty="0" sz="1000" spc="4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0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30">
                <a:solidFill>
                  <a:srgbClr val="22373A"/>
                </a:solidFill>
                <a:latin typeface="Arial Black"/>
                <a:cs typeface="Arial Black"/>
              </a:rPr>
              <a:t>Enlace</a:t>
            </a:r>
            <a:r>
              <a:rPr dirty="0" sz="10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30">
                <a:solidFill>
                  <a:srgbClr val="22373A"/>
                </a:solidFill>
                <a:latin typeface="Arial Black"/>
                <a:cs typeface="Arial Black"/>
              </a:rPr>
              <a:t>directos</a:t>
            </a:r>
            <a:r>
              <a:rPr dirty="0" sz="10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Arial Black"/>
                <a:cs typeface="Arial Black"/>
              </a:rPr>
              <a:t>(IFI</a:t>
            </a:r>
            <a:r>
              <a:rPr dirty="0" sz="10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o</a:t>
            </a:r>
            <a:r>
              <a:rPr dirty="0" sz="10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Arial Black"/>
                <a:cs typeface="Arial Black"/>
              </a:rPr>
              <a:t>IFT)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lvl="1" marL="566420" indent="-167640">
              <a:lnSpc>
                <a:spcPct val="100000"/>
              </a:lnSpc>
              <a:spcBef>
                <a:spcPts val="175"/>
              </a:spcBef>
              <a:buChar char="•"/>
              <a:tabLst>
                <a:tab pos="566420" algn="l"/>
              </a:tabLst>
            </a:pP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Representan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“costo”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“fricción”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entre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hexágonos.</a:t>
            </a:r>
            <a:endParaRPr sz="1000">
              <a:latin typeface="Tahoma"/>
              <a:cs typeface="Tahoma"/>
            </a:endParaRPr>
          </a:p>
          <a:p>
            <a:pPr lvl="1" marL="566420" marR="5080" indent="-168275">
              <a:lnSpc>
                <a:spcPct val="114599"/>
              </a:lnSpc>
              <a:buChar char="•"/>
              <a:tabLst>
                <a:tab pos="56642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Para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encontrar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camino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mínimo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costo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(Dijkstra),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5">
                <a:solidFill>
                  <a:srgbClr val="22373A"/>
                </a:solidFill>
                <a:latin typeface="Tahoma"/>
                <a:cs typeface="Tahoma"/>
              </a:rPr>
              <a:t>enlaces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deben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tener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peso directo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Arial Black"/>
                <a:cs typeface="Arial Black"/>
              </a:rPr>
              <a:t>IFI</a:t>
            </a:r>
            <a:r>
              <a:rPr dirty="0" sz="1000" spc="-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o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Arial Black"/>
                <a:cs typeface="Arial Black"/>
              </a:rPr>
              <a:t>IFT</a:t>
            </a:r>
            <a:r>
              <a:rPr dirty="0" sz="1000" spc="-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(para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buscar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minimizar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costo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acumulado).</a:t>
            </a:r>
            <a:endParaRPr sz="1000">
              <a:latin typeface="Tahoma"/>
              <a:cs typeface="Tahoma"/>
            </a:endParaRPr>
          </a:p>
          <a:p>
            <a:pPr marL="28956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289560" algn="l"/>
              </a:tabLst>
            </a:pP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Significado</a:t>
            </a:r>
            <a:r>
              <a:rPr dirty="0" sz="1000" spc="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000" spc="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Arial Black"/>
                <a:cs typeface="Arial Black"/>
              </a:rPr>
              <a:t>las</a:t>
            </a:r>
            <a:r>
              <a:rPr dirty="0" sz="1000" spc="7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Arial Black"/>
                <a:cs typeface="Arial Black"/>
              </a:rPr>
              <a:t>Centralidades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lvl="1" marL="56642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566420" algn="l"/>
              </a:tabLst>
            </a:pPr>
            <a:r>
              <a:rPr dirty="0" sz="1000" spc="-130">
                <a:solidFill>
                  <a:srgbClr val="22373A"/>
                </a:solidFill>
                <a:latin typeface="Arial Black"/>
                <a:cs typeface="Arial Black"/>
              </a:rPr>
              <a:t>Cercanía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22373A"/>
                </a:solidFill>
                <a:latin typeface="Arial Black"/>
                <a:cs typeface="Arial Black"/>
              </a:rPr>
              <a:t>(Closeness)</a:t>
            </a:r>
            <a:r>
              <a:rPr dirty="0" sz="1000" spc="-10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inversa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distancia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media.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Una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cercanía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 i="1">
                <a:solidFill>
                  <a:srgbClr val="22373A"/>
                </a:solidFill>
                <a:latin typeface="Arial"/>
                <a:cs typeface="Arial"/>
              </a:rPr>
              <a:t>baja</a:t>
            </a:r>
            <a:endParaRPr sz="10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representa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aislamiento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estructural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(mayor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costo/dificultad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para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llegar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22373A"/>
                </a:solidFill>
                <a:latin typeface="Tahoma"/>
                <a:cs typeface="Tahoma"/>
              </a:rPr>
              <a:t>ese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nodo).</a:t>
            </a:r>
            <a:endParaRPr sz="1000">
              <a:latin typeface="Tahoma"/>
              <a:cs typeface="Tahoma"/>
            </a:endParaRPr>
          </a:p>
          <a:p>
            <a:pPr lvl="1" marL="566420" marR="381000" indent="-168275">
              <a:lnSpc>
                <a:spcPct val="114599"/>
              </a:lnSpc>
              <a:buFont typeface="Tahoma"/>
              <a:buChar char="•"/>
              <a:tabLst>
                <a:tab pos="566420" algn="l"/>
              </a:tabLst>
            </a:pP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Intermediación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22373A"/>
                </a:solidFill>
                <a:latin typeface="Arial Black"/>
                <a:cs typeface="Arial Black"/>
              </a:rPr>
              <a:t>(Betweenness)</a:t>
            </a:r>
            <a:r>
              <a:rPr dirty="0" sz="1000" spc="-1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Frecuencia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cruce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por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caminos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óptimos.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Identifica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grandes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cuellos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botella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intercambiadores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forzados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red.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Integración</a:t>
            </a:r>
            <a:r>
              <a:rPr dirty="0" spc="3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45"/>
              <a:t>Feedback:</a:t>
            </a:r>
            <a:r>
              <a:rPr dirty="0" spc="160"/>
              <a:t> </a:t>
            </a:r>
            <a:r>
              <a:rPr dirty="0" spc="-110"/>
              <a:t>Rol</a:t>
            </a:r>
            <a:r>
              <a:rPr dirty="0" spc="30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40"/>
              <a:t>la</a:t>
            </a:r>
            <a:r>
              <a:rPr dirty="0" spc="35"/>
              <a:t> </a:t>
            </a:r>
            <a:r>
              <a:rPr dirty="0" spc="-135"/>
              <a:t>Inversa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899806"/>
            <a:ext cx="5003800" cy="1417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solidFill>
                  <a:srgbClr val="22373A"/>
                </a:solidFill>
                <a:latin typeface="Arial Black"/>
                <a:cs typeface="Arial Black"/>
              </a:rPr>
              <a:t>Fuerza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Conexión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y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22373A"/>
                </a:solidFill>
                <a:latin typeface="Arial Black"/>
                <a:cs typeface="Arial Black"/>
              </a:rPr>
              <a:t>Facilidad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 Black"/>
                <a:cs typeface="Arial Black"/>
              </a:rPr>
              <a:t>(1/IFI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22373A"/>
                </a:solidFill>
                <a:latin typeface="Arial Black"/>
                <a:cs typeface="Arial Black"/>
              </a:rPr>
              <a:t>o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1/IFT)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Black"/>
              <a:cs typeface="Arial Black"/>
            </a:endParaRPr>
          </a:p>
          <a:p>
            <a:pPr marL="289560" indent="-167640">
              <a:lnSpc>
                <a:spcPct val="100000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Concepto</a:t>
            </a:r>
            <a:r>
              <a:rPr dirty="0" sz="1000" spc="-10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Representa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facilidad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movimiento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afinidad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conexión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entre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zonas.</a:t>
            </a:r>
            <a:endParaRPr sz="1000">
              <a:latin typeface="Tahoma"/>
              <a:cs typeface="Tahoma"/>
            </a:endParaRPr>
          </a:p>
          <a:p>
            <a:pPr marL="28956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289560" algn="l"/>
              </a:tabLst>
            </a:pPr>
            <a:r>
              <a:rPr dirty="0" sz="1000" spc="-50">
                <a:solidFill>
                  <a:srgbClr val="22373A"/>
                </a:solidFill>
                <a:latin typeface="Arial Black"/>
                <a:cs typeface="Arial Black"/>
              </a:rPr>
              <a:t>Aplicaciones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lvl="1" marL="566420" marR="5080" indent="-168275">
              <a:lnSpc>
                <a:spcPct val="114599"/>
              </a:lnSpc>
              <a:buChar char="•"/>
              <a:tabLst>
                <a:tab pos="56642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utiliza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para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algoritmos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detección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comunidades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(ej.</a:t>
            </a:r>
            <a:r>
              <a:rPr dirty="0" sz="10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clustering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jerárquico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grafos).</a:t>
            </a:r>
            <a:endParaRPr sz="1000">
              <a:latin typeface="Tahoma"/>
              <a:cs typeface="Tahoma"/>
            </a:endParaRPr>
          </a:p>
          <a:p>
            <a:pPr lvl="1" marL="561340" marR="266065" indent="-163195">
              <a:lnSpc>
                <a:spcPct val="114599"/>
              </a:lnSpc>
              <a:buChar char="•"/>
              <a:tabLst>
                <a:tab pos="56642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Análisis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similitud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territorial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(donde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un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mayor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valor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enlace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significa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mayor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proximidad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funcional).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Integración</a:t>
            </a:r>
            <a:r>
              <a:rPr dirty="0" spc="50"/>
              <a:t> </a:t>
            </a:r>
            <a:r>
              <a:rPr dirty="0" spc="-160"/>
              <a:t>de</a:t>
            </a:r>
            <a:r>
              <a:rPr dirty="0" spc="50"/>
              <a:t> </a:t>
            </a:r>
            <a:r>
              <a:rPr dirty="0" spc="-145"/>
              <a:t>Feedback:</a:t>
            </a:r>
            <a:r>
              <a:rPr dirty="0" spc="204"/>
              <a:t> </a:t>
            </a:r>
            <a:r>
              <a:rPr dirty="0" spc="-120"/>
              <a:t>Propósito</a:t>
            </a:r>
            <a:r>
              <a:rPr dirty="0" spc="50"/>
              <a:t> </a:t>
            </a:r>
            <a:r>
              <a:rPr dirty="0" spc="-145"/>
              <a:t>del</a:t>
            </a:r>
            <a:r>
              <a:rPr dirty="0" spc="50"/>
              <a:t> </a:t>
            </a:r>
            <a:r>
              <a:rPr dirty="0" spc="-135"/>
              <a:t>Clustering</a:t>
            </a:r>
            <a:r>
              <a:rPr dirty="0" spc="55"/>
              <a:t> </a:t>
            </a:r>
            <a:r>
              <a:rPr dirty="0" spc="-25"/>
              <a:t>(HDBSCAN)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719021"/>
            <a:ext cx="4895215" cy="18789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solidFill>
                  <a:srgbClr val="22373A"/>
                </a:solidFill>
                <a:latin typeface="Arial Black"/>
                <a:cs typeface="Arial Black"/>
              </a:rPr>
              <a:t>¿Por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50">
                <a:solidFill>
                  <a:srgbClr val="22373A"/>
                </a:solidFill>
                <a:latin typeface="Arial Black"/>
                <a:cs typeface="Arial Black"/>
              </a:rPr>
              <a:t>qué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utilizar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5">
                <a:solidFill>
                  <a:srgbClr val="22373A"/>
                </a:solidFill>
                <a:latin typeface="Arial Black"/>
                <a:cs typeface="Arial Black"/>
              </a:rPr>
              <a:t>Clustering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 Black"/>
                <a:cs typeface="Arial Black"/>
              </a:rPr>
              <a:t>Multidimensional?</a:t>
            </a:r>
            <a:endParaRPr sz="1100">
              <a:latin typeface="Arial Black"/>
              <a:cs typeface="Arial Black"/>
            </a:endParaRPr>
          </a:p>
          <a:p>
            <a:pPr marL="283845" marR="84455" indent="-172085">
              <a:lnSpc>
                <a:spcPct val="118000"/>
              </a:lnSpc>
              <a:spcBef>
                <a:spcPts val="820"/>
              </a:spcBef>
              <a:buFont typeface="Tahoma"/>
              <a:buChar char="•"/>
              <a:tabLst>
                <a:tab pos="283845" algn="l"/>
                <a:tab pos="289560" algn="l"/>
              </a:tabLst>
            </a:pPr>
            <a:r>
              <a:rPr dirty="0" sz="1100">
                <a:solidFill>
                  <a:srgbClr val="22373A"/>
                </a:solidFill>
                <a:latin typeface="Arial Black"/>
                <a:cs typeface="Arial Black"/>
              </a:rPr>
              <a:t>	</a:t>
            </a:r>
            <a:r>
              <a:rPr dirty="0" sz="1100" spc="-114">
                <a:solidFill>
                  <a:srgbClr val="22373A"/>
                </a:solidFill>
                <a:latin typeface="Arial Black"/>
                <a:cs typeface="Arial Black"/>
              </a:rPr>
              <a:t>Evitar</a:t>
            </a:r>
            <a:r>
              <a:rPr dirty="0" sz="11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el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55">
                <a:solidFill>
                  <a:srgbClr val="22373A"/>
                </a:solidFill>
                <a:latin typeface="Arial Black"/>
                <a:cs typeface="Arial Black"/>
              </a:rPr>
              <a:t>análisis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univariado</a:t>
            </a:r>
            <a:r>
              <a:rPr dirty="0" sz="1100" spc="-12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6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Permite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integrar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el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IFI,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IFT,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centralidades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(Closeness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Betweenness)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vulnerabilidad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social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(Tarifa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Social)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un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solo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perfil</a:t>
            </a:r>
            <a:r>
              <a:rPr dirty="0" sz="1100" spc="-8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territorial.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18000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100" spc="-125">
                <a:solidFill>
                  <a:srgbClr val="22373A"/>
                </a:solidFill>
                <a:latin typeface="Arial Black"/>
                <a:cs typeface="Arial Black"/>
              </a:rPr>
              <a:t>Identificación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22373A"/>
                </a:solidFill>
                <a:latin typeface="Arial Black"/>
                <a:cs typeface="Arial Black"/>
              </a:rPr>
              <a:t>Áreas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10">
                <a:solidFill>
                  <a:srgbClr val="22373A"/>
                </a:solidFill>
                <a:latin typeface="Arial Black"/>
                <a:cs typeface="Arial Black"/>
              </a:rPr>
              <a:t>Críticas</a:t>
            </a:r>
            <a:r>
              <a:rPr dirty="0" sz="1100" spc="-1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Agrupa</a:t>
            </a:r>
            <a:r>
              <a:rPr dirty="0" sz="11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orgánicamente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hexágonos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con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deficiencias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compartidas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transporte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sin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forzar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límites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político-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administrativos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arbitrarios.</a:t>
            </a:r>
            <a:endParaRPr sz="1100">
              <a:latin typeface="Tahoma"/>
              <a:cs typeface="Tahoma"/>
            </a:endParaRPr>
          </a:p>
          <a:p>
            <a:pPr marL="289560" marR="24130" indent="-177165">
              <a:lnSpc>
                <a:spcPct val="118000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Focalización</a:t>
            </a:r>
            <a:r>
              <a:rPr dirty="0" sz="1100" spc="-12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Ofrece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planificadores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una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guía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espacial de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dónde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dirigir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los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recursos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subsidios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transporte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con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Tahoma"/>
                <a:cs typeface="Tahoma"/>
              </a:rPr>
              <a:t>mayor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urgencia.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Resultados:</a:t>
            </a:r>
            <a:r>
              <a:rPr dirty="0" spc="110"/>
              <a:t> </a:t>
            </a:r>
            <a:r>
              <a:rPr dirty="0" spc="-150"/>
              <a:t>Análisis</a:t>
            </a:r>
            <a:r>
              <a:rPr dirty="0" spc="3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30"/>
              <a:t>Correlación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1008100"/>
          <a:ext cx="5116830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330"/>
                <a:gridCol w="1257934"/>
                <a:gridCol w="1245235"/>
                <a:gridCol w="1292860"/>
              </a:tblGrid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Relación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Analizada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19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Pearson</a:t>
                      </a:r>
                      <a:r>
                        <a:rPr dirty="0" sz="600" spc="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Georgia"/>
                          <a:cs typeface="Georgia"/>
                        </a:rPr>
                        <a:t>𝜏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71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600" spc="-2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Spearman</a:t>
                      </a:r>
                      <a:r>
                        <a:rPr dirty="0" sz="600" spc="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Georgia"/>
                          <a:cs typeface="Georgia"/>
                        </a:rPr>
                        <a:t>𝜌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Interpretación</a:t>
                      </a:r>
                      <a:r>
                        <a:rPr dirty="0" sz="600" spc="-1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Hallazgo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  <a:spcBef>
                          <a:spcPts val="300"/>
                        </a:spcBef>
                      </a:pPr>
                      <a:r>
                        <a:rPr dirty="0" sz="600" spc="-7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Tarifa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7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Social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6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vs.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Cercanía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3810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21920">
                        <a:lnSpc>
                          <a:spcPts val="650"/>
                        </a:lnSpc>
                        <a:spcBef>
                          <a:spcPts val="300"/>
                        </a:spcBef>
                      </a:pPr>
                      <a:r>
                        <a:rPr dirty="0" sz="600" spc="-3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-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0.304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3810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17170">
                        <a:lnSpc>
                          <a:spcPts val="650"/>
                        </a:lnSpc>
                        <a:spcBef>
                          <a:spcPts val="300"/>
                        </a:spcBef>
                      </a:pPr>
                      <a:r>
                        <a:rPr dirty="0" sz="600" spc="-3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-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0.280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3810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300"/>
                        </a:spcBef>
                      </a:pP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El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aislamiento</a:t>
                      </a:r>
                      <a:r>
                        <a:rPr dirty="0" sz="600" spc="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600" spc="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red</a:t>
                      </a:r>
                      <a:r>
                        <a:rPr dirty="0" sz="600" spc="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coincide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con</a:t>
                      </a:r>
                      <a:r>
                        <a:rPr dirty="0" sz="600" spc="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la</a:t>
                      </a:r>
                      <a:r>
                        <a:rPr dirty="0" sz="600" spc="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vulnerabilidad</a:t>
                      </a:r>
                      <a:r>
                        <a:rPr dirty="0" sz="600" spc="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social.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7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Tarifa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7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Social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6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vs.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IFI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algn="ctr" marR="1219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+0.357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algn="ctr" marL="21717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+0.347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600" spc="1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3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mayores</a:t>
                      </a:r>
                      <a:r>
                        <a:rPr dirty="0" sz="600" spc="1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niveles</a:t>
                      </a:r>
                      <a:r>
                        <a:rPr dirty="0" sz="600" spc="2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600" spc="1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pobreza,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mayor</a:t>
                      </a:r>
                      <a:r>
                        <a:rPr dirty="0" sz="600" spc="-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ineficiencia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de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viaje.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7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Tarifa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7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Social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6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vs.</a:t>
                      </a:r>
                      <a:r>
                        <a:rPr dirty="0" sz="600" spc="3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IFT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algn="ctr" marR="1219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+0.321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algn="ctr" marL="21717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+0.312</a:t>
                      </a:r>
                      <a:endParaRPr sz="600">
                        <a:latin typeface="Arial Black"/>
                        <a:cs typeface="Arial Black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Mayor</a:t>
                      </a:r>
                      <a:r>
                        <a:rPr dirty="0" sz="600" spc="1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2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dependencia</a:t>
                      </a:r>
                      <a:r>
                        <a:rPr dirty="0" sz="600" spc="2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65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ineficiencia</a:t>
                      </a:r>
                      <a:r>
                        <a:rPr dirty="0" sz="600" spc="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600" spc="5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transbordos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</a:tr>
              <a:tr h="143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600" spc="-10">
                          <a:solidFill>
                            <a:srgbClr val="22373A"/>
                          </a:solidFill>
                          <a:latin typeface="Arial MT"/>
                          <a:cs typeface="Arial MT"/>
                        </a:rPr>
                        <a:t>periféricos.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B="0" marT="635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7294" y="2237374"/>
            <a:ext cx="2216150" cy="119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i="1">
                <a:solidFill>
                  <a:srgbClr val="22373A"/>
                </a:solidFill>
                <a:latin typeface="Arial"/>
                <a:cs typeface="Arial"/>
              </a:rPr>
              <a:t>Nota:</a:t>
            </a:r>
            <a:r>
              <a:rPr dirty="0" sz="600" spc="8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22373A"/>
                </a:solidFill>
                <a:latin typeface="Arial"/>
                <a:cs typeface="Arial"/>
              </a:rPr>
              <a:t>Todas</a:t>
            </a:r>
            <a:r>
              <a:rPr dirty="0" sz="600" spc="3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22373A"/>
                </a:solidFill>
                <a:latin typeface="Arial"/>
                <a:cs typeface="Arial"/>
              </a:rPr>
              <a:t>las</a:t>
            </a:r>
            <a:r>
              <a:rPr dirty="0" sz="600" spc="3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25" i="1">
                <a:solidFill>
                  <a:srgbClr val="22373A"/>
                </a:solidFill>
                <a:latin typeface="Arial"/>
                <a:cs typeface="Arial"/>
              </a:rPr>
              <a:t>correlaciones</a:t>
            </a:r>
            <a:r>
              <a:rPr dirty="0" sz="600" spc="3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22373A"/>
                </a:solidFill>
                <a:latin typeface="Arial"/>
                <a:cs typeface="Arial"/>
              </a:rPr>
              <a:t>son</a:t>
            </a:r>
            <a:r>
              <a:rPr dirty="0" sz="600" spc="3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10" i="1">
                <a:solidFill>
                  <a:srgbClr val="22373A"/>
                </a:solidFill>
                <a:latin typeface="Arial"/>
                <a:cs typeface="Arial"/>
              </a:rPr>
              <a:t>significativas</a:t>
            </a:r>
            <a:r>
              <a:rPr dirty="0" sz="600" spc="3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i="1">
                <a:solidFill>
                  <a:srgbClr val="22373A"/>
                </a:solidFill>
                <a:latin typeface="Arial"/>
                <a:cs typeface="Arial"/>
              </a:rPr>
              <a:t>con</a:t>
            </a:r>
            <a:r>
              <a:rPr dirty="0" sz="600" spc="3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600" spc="-150">
                <a:solidFill>
                  <a:srgbClr val="22373A"/>
                </a:solidFill>
                <a:latin typeface="Georgia"/>
                <a:cs typeface="Georgia"/>
              </a:rPr>
              <a:t>𝑝</a:t>
            </a:r>
            <a:r>
              <a:rPr dirty="0" sz="600" spc="2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600" spc="85">
                <a:solidFill>
                  <a:srgbClr val="22373A"/>
                </a:solidFill>
                <a:latin typeface="Georgia"/>
                <a:cs typeface="Georgia"/>
              </a:rPr>
              <a:t>&lt;</a:t>
            </a:r>
            <a:r>
              <a:rPr dirty="0" sz="600" spc="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600" spc="65">
                <a:solidFill>
                  <a:srgbClr val="22373A"/>
                </a:solidFill>
                <a:latin typeface="Georgia"/>
                <a:cs typeface="Georgia"/>
              </a:rPr>
              <a:t>0.001</a:t>
            </a:r>
            <a:r>
              <a:rPr dirty="0" sz="600" spc="65" i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Resultados:</a:t>
            </a:r>
            <a:r>
              <a:rPr dirty="0" spc="130"/>
              <a:t> </a:t>
            </a:r>
            <a:r>
              <a:rPr dirty="0" spc="-105"/>
              <a:t>Modelo</a:t>
            </a:r>
            <a:r>
              <a:rPr dirty="0" spc="2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55"/>
              <a:t>Regresión</a:t>
            </a:r>
            <a:r>
              <a:rPr dirty="0" spc="35"/>
              <a:t> </a:t>
            </a:r>
            <a:r>
              <a:rPr dirty="0" spc="-25"/>
              <a:t>MCO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21894" y="771663"/>
            <a:ext cx="4956175" cy="1670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Formulación</a:t>
            </a:r>
            <a:r>
              <a:rPr dirty="0" sz="1100" spc="4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del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Modelo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 Black"/>
                <a:cs typeface="Arial Black"/>
              </a:rPr>
              <a:t>Regresión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Black"/>
              <a:cs typeface="Arial Black"/>
            </a:endParaRPr>
          </a:p>
          <a:p>
            <a:pPr marL="314960" indent="-167640">
              <a:lnSpc>
                <a:spcPct val="100000"/>
              </a:lnSpc>
              <a:buFont typeface="Tahoma"/>
              <a:buChar char="•"/>
              <a:tabLst>
                <a:tab pos="314960" algn="l"/>
              </a:tabLst>
            </a:pPr>
            <a:r>
              <a:rPr dirty="0" sz="1000" spc="-135">
                <a:solidFill>
                  <a:srgbClr val="22373A"/>
                </a:solidFill>
                <a:latin typeface="Arial Black"/>
                <a:cs typeface="Arial Black"/>
              </a:rPr>
              <a:t>Ecuación</a:t>
            </a:r>
            <a:r>
              <a:rPr dirty="0" sz="1000" spc="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del</a:t>
            </a:r>
            <a:r>
              <a:rPr dirty="0" sz="1000" spc="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Arial Black"/>
                <a:cs typeface="Arial Black"/>
              </a:rPr>
              <a:t>Modelo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468630">
              <a:lnSpc>
                <a:spcPct val="100000"/>
              </a:lnSpc>
              <a:spcBef>
                <a:spcPts val="1170"/>
              </a:spcBef>
            </a:pP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Duración</a:t>
            </a:r>
            <a:r>
              <a:rPr dirty="0" baseline="-19841" sz="1050" spc="-89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19841" sz="1050" spc="24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225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337">
                <a:solidFill>
                  <a:srgbClr val="22373A"/>
                </a:solidFill>
                <a:latin typeface="Georgia"/>
                <a:cs typeface="Georgia"/>
              </a:rPr>
              <a:t>0</a:t>
            </a:r>
            <a:r>
              <a:rPr dirty="0" baseline="-19841" sz="1050" spc="172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90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135">
                <a:solidFill>
                  <a:srgbClr val="22373A"/>
                </a:solidFill>
                <a:latin typeface="Georgia"/>
                <a:cs typeface="Georgia"/>
              </a:rPr>
              <a:t>1</a:t>
            </a:r>
            <a:r>
              <a:rPr dirty="0" sz="1000" spc="-90">
                <a:solidFill>
                  <a:srgbClr val="22373A"/>
                </a:solidFill>
                <a:latin typeface="Tahoma"/>
                <a:cs typeface="Tahoma"/>
              </a:rPr>
              <a:t>Etapas</a:t>
            </a:r>
            <a:r>
              <a:rPr dirty="0" baseline="-27777" sz="1050" spc="-135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27777" sz="1050" spc="16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75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112">
                <a:solidFill>
                  <a:srgbClr val="22373A"/>
                </a:solidFill>
                <a:latin typeface="Georgia"/>
                <a:cs typeface="Georgia"/>
              </a:rPr>
              <a:t>2</a:t>
            </a:r>
            <a:r>
              <a:rPr dirty="0" sz="1000" spc="-75">
                <a:solidFill>
                  <a:srgbClr val="22373A"/>
                </a:solidFill>
                <a:latin typeface="Tahoma"/>
                <a:cs typeface="Tahoma"/>
              </a:rPr>
              <a:t>Distancia</a:t>
            </a:r>
            <a:r>
              <a:rPr dirty="0" baseline="-19841" sz="1050" spc="-112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19841" sz="1050" spc="172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95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142">
                <a:solidFill>
                  <a:srgbClr val="22373A"/>
                </a:solidFill>
                <a:latin typeface="Georgia"/>
                <a:cs typeface="Georgia"/>
              </a:rPr>
              <a:t>3</a:t>
            </a:r>
            <a:r>
              <a:rPr dirty="0" sz="1000" spc="-95">
                <a:solidFill>
                  <a:srgbClr val="22373A"/>
                </a:solidFill>
                <a:latin typeface="Tahoma"/>
                <a:cs typeface="Tahoma"/>
              </a:rPr>
              <a:t>Densidad</a:t>
            </a:r>
            <a:r>
              <a:rPr dirty="0" baseline="-19841" sz="1050" spc="-142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19841" sz="1050" spc="16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130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195">
                <a:solidFill>
                  <a:srgbClr val="22373A"/>
                </a:solidFill>
                <a:latin typeface="Georgia"/>
                <a:cs typeface="Georgia"/>
              </a:rPr>
              <a:t>4</a:t>
            </a:r>
            <a:r>
              <a:rPr dirty="0" sz="1000" spc="-130">
                <a:solidFill>
                  <a:srgbClr val="22373A"/>
                </a:solidFill>
                <a:latin typeface="Tahoma"/>
                <a:cs typeface="Tahoma"/>
              </a:rPr>
              <a:t>Lat</a:t>
            </a:r>
            <a:r>
              <a:rPr dirty="0" baseline="-19841" sz="1050" spc="-195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19841" sz="1050" spc="16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1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135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19841" sz="1050" spc="-202">
                <a:solidFill>
                  <a:srgbClr val="22373A"/>
                </a:solidFill>
                <a:latin typeface="Georgia"/>
                <a:cs typeface="Georgia"/>
              </a:rPr>
              <a:t>5</a:t>
            </a:r>
            <a:r>
              <a:rPr dirty="0" sz="1000" spc="-135">
                <a:solidFill>
                  <a:srgbClr val="22373A"/>
                </a:solidFill>
                <a:latin typeface="Tahoma"/>
                <a:cs typeface="Tahoma"/>
              </a:rPr>
              <a:t>Lon</a:t>
            </a:r>
            <a:r>
              <a:rPr dirty="0" baseline="-19841" sz="1050" spc="-202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r>
              <a:rPr dirty="0" baseline="-19841" sz="1050" spc="16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+</a:t>
            </a:r>
            <a:r>
              <a:rPr dirty="0" sz="1000" spc="-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530">
                <a:solidFill>
                  <a:srgbClr val="22373A"/>
                </a:solidFill>
                <a:latin typeface="Georgia"/>
                <a:cs typeface="Georgia"/>
              </a:rPr>
              <a:t>𝜖</a:t>
            </a:r>
            <a:r>
              <a:rPr dirty="0" baseline="-19841" sz="1050" spc="-794">
                <a:solidFill>
                  <a:srgbClr val="22373A"/>
                </a:solidFill>
                <a:latin typeface="Georgia"/>
                <a:cs typeface="Georgia"/>
              </a:rPr>
              <a:t>𝑖</a:t>
            </a:r>
            <a:endParaRPr baseline="-19841" sz="1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eorgia"/>
              <a:cs typeface="Georgia"/>
            </a:endParaRPr>
          </a:p>
          <a:p>
            <a:pPr marL="314960" indent="-167640">
              <a:lnSpc>
                <a:spcPct val="100000"/>
              </a:lnSpc>
              <a:buFont typeface="Tahoma"/>
              <a:buChar char="•"/>
              <a:tabLst>
                <a:tab pos="314960" algn="l"/>
              </a:tabLst>
            </a:pPr>
            <a:r>
              <a:rPr dirty="0" sz="1000" spc="-130">
                <a:solidFill>
                  <a:srgbClr val="22373A"/>
                </a:solidFill>
                <a:latin typeface="Arial Black"/>
                <a:cs typeface="Arial Black"/>
              </a:rPr>
              <a:t>Estadísticas</a:t>
            </a:r>
            <a:r>
              <a:rPr dirty="0" sz="1000" spc="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000" spc="7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Arial Black"/>
                <a:cs typeface="Arial Black"/>
              </a:rPr>
              <a:t>Ajuste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lvl="1" marL="59182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591820" algn="l"/>
              </a:tabLst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Muestra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(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𝑁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)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7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22373A"/>
                </a:solidFill>
                <a:latin typeface="Times New Roman"/>
                <a:cs typeface="Times New Roman"/>
              </a:rPr>
              <a:t>4,823,278</a:t>
            </a:r>
            <a:r>
              <a:rPr dirty="0" sz="1000" spc="55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viajes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completos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válidos.</a:t>
            </a:r>
            <a:endParaRPr sz="1000">
              <a:latin typeface="Tahoma"/>
              <a:cs typeface="Tahoma"/>
            </a:endParaRPr>
          </a:p>
          <a:p>
            <a:pPr lvl="1" marL="59182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591820" algn="l"/>
              </a:tabLst>
            </a:pPr>
            <a:r>
              <a:rPr dirty="0" sz="1000" spc="-95">
                <a:solidFill>
                  <a:srgbClr val="22373A"/>
                </a:solidFill>
                <a:latin typeface="Arial Black"/>
                <a:cs typeface="Arial Black"/>
              </a:rPr>
              <a:t>R-</a:t>
            </a:r>
            <a:r>
              <a:rPr dirty="0" sz="1000" spc="-114">
                <a:solidFill>
                  <a:srgbClr val="22373A"/>
                </a:solidFill>
                <a:latin typeface="Arial Black"/>
                <a:cs typeface="Arial Black"/>
              </a:rPr>
              <a:t>squared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(</a:t>
            </a:r>
            <a:r>
              <a:rPr dirty="0" sz="1000">
                <a:solidFill>
                  <a:srgbClr val="22373A"/>
                </a:solidFill>
                <a:latin typeface="Georgia"/>
                <a:cs typeface="Georgia"/>
              </a:rPr>
              <a:t>𝑅</a:t>
            </a:r>
            <a:r>
              <a:rPr dirty="0" baseline="27777" sz="1050">
                <a:solidFill>
                  <a:srgbClr val="22373A"/>
                </a:solidFill>
                <a:latin typeface="Georgia"/>
                <a:cs typeface="Georgia"/>
              </a:rPr>
              <a:t>2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)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22373A"/>
                </a:solidFill>
                <a:latin typeface="Times New Roman"/>
                <a:cs typeface="Times New Roman"/>
              </a:rPr>
              <a:t>0.1956</a:t>
            </a:r>
            <a:r>
              <a:rPr dirty="0" sz="1000" spc="4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(el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modelo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explica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solidFill>
                  <a:srgbClr val="22373A"/>
                </a:solidFill>
                <a:latin typeface="Tahoma"/>
                <a:cs typeface="Tahoma"/>
              </a:rPr>
              <a:t>19.56%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varianza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total).</a:t>
            </a:r>
            <a:endParaRPr sz="1000">
              <a:latin typeface="Tahoma"/>
              <a:cs typeface="Tahoma"/>
            </a:endParaRPr>
          </a:p>
          <a:p>
            <a:pPr lvl="1" marL="59182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591820" algn="l"/>
              </a:tabLst>
            </a:pPr>
            <a:r>
              <a:rPr dirty="0" sz="1000" spc="-114">
                <a:solidFill>
                  <a:srgbClr val="22373A"/>
                </a:solidFill>
                <a:latin typeface="Arial Black"/>
                <a:cs typeface="Arial Black"/>
              </a:rPr>
              <a:t>Significancia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85">
                <a:solidFill>
                  <a:srgbClr val="22373A"/>
                </a:solidFill>
                <a:latin typeface="Arial Black"/>
                <a:cs typeface="Arial Black"/>
              </a:rPr>
              <a:t>Global</a:t>
            </a:r>
            <a:r>
              <a:rPr dirty="0" sz="1000" spc="-8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Estadístico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0">
                <a:solidFill>
                  <a:srgbClr val="22373A"/>
                </a:solidFill>
                <a:latin typeface="Georgia"/>
                <a:cs typeface="Georgia"/>
              </a:rPr>
              <a:t>𝜞</a:t>
            </a:r>
            <a:r>
              <a:rPr dirty="0" sz="1000" spc="2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altamente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significativo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45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-245">
                <a:solidFill>
                  <a:srgbClr val="22373A"/>
                </a:solidFill>
                <a:latin typeface="Georgia"/>
                <a:cs typeface="Georgia"/>
              </a:rPr>
              <a:t>𝑝</a:t>
            </a:r>
            <a:r>
              <a:rPr dirty="0" sz="1000" spc="5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22373A"/>
                </a:solidFill>
                <a:latin typeface="Georgia"/>
                <a:cs typeface="Georgia"/>
              </a:rPr>
              <a:t>&lt;</a:t>
            </a:r>
            <a:r>
              <a:rPr dirty="0" sz="1000" spc="2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Georgia"/>
                <a:cs typeface="Georgia"/>
              </a:rPr>
              <a:t>0.0001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303784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Resultados:</a:t>
            </a:r>
            <a:r>
              <a:rPr dirty="0" spc="190"/>
              <a:t> </a:t>
            </a:r>
            <a:r>
              <a:rPr dirty="0" spc="-150"/>
              <a:t>Coeficientes</a:t>
            </a:r>
            <a:r>
              <a:rPr dirty="0" spc="45"/>
              <a:t> </a:t>
            </a:r>
            <a:r>
              <a:rPr dirty="0" spc="-160"/>
              <a:t>de</a:t>
            </a:r>
            <a:r>
              <a:rPr dirty="0" spc="45"/>
              <a:t> </a:t>
            </a:r>
            <a:r>
              <a:rPr dirty="0" spc="-155"/>
              <a:t>Regresión</a:t>
            </a:r>
            <a:r>
              <a:rPr dirty="0" spc="45"/>
              <a:t> </a:t>
            </a:r>
            <a:r>
              <a:rPr dirty="0" spc="-45"/>
              <a:t>OLS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21894" y="677759"/>
            <a:ext cx="5036820" cy="1871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40">
                <a:solidFill>
                  <a:srgbClr val="22373A"/>
                </a:solidFill>
                <a:latin typeface="Arial Black"/>
                <a:cs typeface="Arial Black"/>
              </a:rPr>
              <a:t>Impacto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Neto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5">
                <a:solidFill>
                  <a:srgbClr val="22373A"/>
                </a:solidFill>
                <a:latin typeface="Arial Black"/>
                <a:cs typeface="Arial Black"/>
              </a:rPr>
              <a:t>las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45">
                <a:solidFill>
                  <a:srgbClr val="22373A"/>
                </a:solidFill>
                <a:latin typeface="Arial Black"/>
                <a:cs typeface="Arial Black"/>
              </a:rPr>
              <a:t>Variables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en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22373A"/>
                </a:solidFill>
                <a:latin typeface="Arial Black"/>
                <a:cs typeface="Arial Black"/>
              </a:rPr>
              <a:t>la</a:t>
            </a:r>
            <a:r>
              <a:rPr dirty="0" sz="11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Duración</a:t>
            </a:r>
            <a:r>
              <a:rPr dirty="0" sz="1100" spc="5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(minutos)</a:t>
            </a:r>
            <a:endParaRPr sz="1100">
              <a:latin typeface="Arial Black"/>
              <a:cs typeface="Arial Black"/>
            </a:endParaRPr>
          </a:p>
          <a:p>
            <a:pPr marL="314960" indent="-16002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314960" algn="l"/>
              </a:tabLst>
            </a:pPr>
            <a:r>
              <a:rPr dirty="0" sz="900" spc="-100">
                <a:solidFill>
                  <a:srgbClr val="22373A"/>
                </a:solidFill>
                <a:latin typeface="Arial Black"/>
                <a:cs typeface="Arial Black"/>
              </a:rPr>
              <a:t>Cantidad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22373A"/>
                </a:solidFill>
                <a:latin typeface="Arial Black"/>
                <a:cs typeface="Arial Black"/>
              </a:rPr>
              <a:t>Etapas</a:t>
            </a:r>
            <a:r>
              <a:rPr dirty="0" sz="9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(</a:t>
            </a:r>
            <a:r>
              <a:rPr dirty="0" sz="900" spc="-10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23148" sz="900" spc="-15">
                <a:solidFill>
                  <a:srgbClr val="22373A"/>
                </a:solidFill>
                <a:latin typeface="Georgia"/>
                <a:cs typeface="Georgia"/>
              </a:rPr>
              <a:t>1</a:t>
            </a:r>
            <a:r>
              <a:rPr dirty="0" baseline="-23148" sz="900" spc="247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135">
                <a:solidFill>
                  <a:srgbClr val="22373A"/>
                </a:solidFill>
                <a:latin typeface="Georgia"/>
                <a:cs typeface="Georgia"/>
              </a:rPr>
              <a:t>=</a:t>
            </a:r>
            <a:r>
              <a:rPr dirty="0" sz="900" spc="3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Georgia"/>
                <a:cs typeface="Georgia"/>
              </a:rPr>
              <a:t>+42.20</a:t>
            </a:r>
            <a:r>
              <a:rPr dirty="0" sz="900" spc="-10">
                <a:solidFill>
                  <a:srgbClr val="22373A"/>
                </a:solidFill>
                <a:latin typeface="Arial Black"/>
                <a:cs typeface="Arial Black"/>
              </a:rPr>
              <a:t>)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endParaRPr sz="900">
              <a:latin typeface="Arial MT"/>
              <a:cs typeface="Arial MT"/>
            </a:endParaRPr>
          </a:p>
          <a:p>
            <a:pPr lvl="1" marL="591820" marR="563245" indent="-168275">
              <a:lnSpc>
                <a:spcPct val="114599"/>
              </a:lnSpc>
              <a:spcBef>
                <a:spcPts val="20"/>
              </a:spcBef>
              <a:buChar char="•"/>
              <a:tabLst>
                <a:tab pos="591820" algn="l"/>
              </a:tabLst>
            </a:pP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Cada</a:t>
            </a:r>
            <a:r>
              <a:rPr dirty="0" sz="10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transbordo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adicional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añade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promedio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95">
                <a:solidFill>
                  <a:srgbClr val="22373A"/>
                </a:solidFill>
                <a:latin typeface="Arial Black"/>
                <a:cs typeface="Arial Black"/>
              </a:rPr>
              <a:t>42.2</a:t>
            </a:r>
            <a:r>
              <a:rPr dirty="0" sz="1000" spc="1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20">
                <a:solidFill>
                  <a:srgbClr val="22373A"/>
                </a:solidFill>
                <a:latin typeface="Arial Black"/>
                <a:cs typeface="Arial Black"/>
              </a:rPr>
              <a:t>minutos</a:t>
            </a:r>
            <a:r>
              <a:rPr dirty="0" sz="1000" spc="-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traslado,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controlando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por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distancia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física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geografía.</a:t>
            </a:r>
            <a:endParaRPr sz="1000">
              <a:latin typeface="Tahoma"/>
              <a:cs typeface="Tahoma"/>
            </a:endParaRPr>
          </a:p>
          <a:p>
            <a:pPr marL="314960" indent="-16002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14960" algn="l"/>
              </a:tabLst>
            </a:pP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Distancia</a:t>
            </a:r>
            <a:r>
              <a:rPr dirty="0" sz="9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22373A"/>
                </a:solidFill>
                <a:latin typeface="Arial Black"/>
                <a:cs typeface="Arial Black"/>
              </a:rPr>
              <a:t>física</a:t>
            </a:r>
            <a:r>
              <a:rPr dirty="0" sz="9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 Black"/>
                <a:cs typeface="Arial Black"/>
              </a:rPr>
              <a:t>(</a:t>
            </a:r>
            <a:r>
              <a:rPr dirty="0" sz="900" spc="-35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23148" sz="900" spc="-52">
                <a:solidFill>
                  <a:srgbClr val="22373A"/>
                </a:solidFill>
                <a:latin typeface="Georgia"/>
                <a:cs typeface="Georgia"/>
              </a:rPr>
              <a:t>2</a:t>
            </a:r>
            <a:r>
              <a:rPr dirty="0" baseline="-23148" sz="900" spc="254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135">
                <a:solidFill>
                  <a:srgbClr val="22373A"/>
                </a:solidFill>
                <a:latin typeface="Georgia"/>
                <a:cs typeface="Georgia"/>
              </a:rPr>
              <a:t>=</a:t>
            </a:r>
            <a:r>
              <a:rPr dirty="0" sz="900" spc="40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35">
                <a:solidFill>
                  <a:srgbClr val="22373A"/>
                </a:solidFill>
                <a:latin typeface="Georgia"/>
                <a:cs typeface="Georgia"/>
              </a:rPr>
              <a:t>+0.619</a:t>
            </a:r>
            <a:r>
              <a:rPr dirty="0" sz="900" spc="35">
                <a:solidFill>
                  <a:srgbClr val="22373A"/>
                </a:solidFill>
                <a:latin typeface="Arial Black"/>
                <a:cs typeface="Arial Black"/>
              </a:rPr>
              <a:t>)</a:t>
            </a:r>
            <a:r>
              <a:rPr dirty="0" sz="900" spc="3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endParaRPr sz="900">
              <a:latin typeface="Arial MT"/>
              <a:cs typeface="Arial MT"/>
            </a:endParaRPr>
          </a:p>
          <a:p>
            <a:pPr lvl="1" marL="591820" marR="30480" indent="-168275">
              <a:lnSpc>
                <a:spcPct val="114599"/>
              </a:lnSpc>
              <a:spcBef>
                <a:spcPts val="20"/>
              </a:spcBef>
              <a:buChar char="•"/>
              <a:tabLst>
                <a:tab pos="591820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tiempo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viaje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aumenta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solo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25">
                <a:solidFill>
                  <a:srgbClr val="22373A"/>
                </a:solidFill>
                <a:latin typeface="Arial Black"/>
                <a:cs typeface="Arial Black"/>
              </a:rPr>
              <a:t>37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45">
                <a:solidFill>
                  <a:srgbClr val="22373A"/>
                </a:solidFill>
                <a:latin typeface="Arial Black"/>
                <a:cs typeface="Arial Black"/>
              </a:rPr>
              <a:t>segundos</a:t>
            </a:r>
            <a:r>
              <a:rPr dirty="0" sz="10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00">
                <a:solidFill>
                  <a:srgbClr val="22373A"/>
                </a:solidFill>
                <a:latin typeface="Arial Black"/>
                <a:cs typeface="Arial Black"/>
              </a:rPr>
              <a:t>por</a:t>
            </a:r>
            <a:r>
              <a:rPr dirty="0" sz="1000" spc="1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110">
                <a:solidFill>
                  <a:srgbClr val="22373A"/>
                </a:solidFill>
                <a:latin typeface="Arial Black"/>
                <a:cs typeface="Arial Black"/>
              </a:rPr>
              <a:t>kilómetro</a:t>
            </a:r>
            <a:r>
              <a:rPr dirty="0" sz="1000" spc="-110">
                <a:solidFill>
                  <a:srgbClr val="22373A"/>
                </a:solidFill>
                <a:latin typeface="Tahoma"/>
                <a:cs typeface="Tahoma"/>
              </a:rPr>
              <a:t>,</a:t>
            </a:r>
            <a:r>
              <a:rPr dirty="0" sz="1000" spc="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lo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que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confirma</a:t>
            </a:r>
            <a:r>
              <a:rPr dirty="0" sz="10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que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ineficiencia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transbordo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penaliza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mucho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más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que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distancia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línea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recta.</a:t>
            </a:r>
            <a:endParaRPr sz="1000">
              <a:latin typeface="Tahoma"/>
              <a:cs typeface="Tahoma"/>
            </a:endParaRPr>
          </a:p>
          <a:p>
            <a:pPr marL="314960" indent="-16002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14960" algn="l"/>
              </a:tabLst>
            </a:pPr>
            <a:r>
              <a:rPr dirty="0" sz="900" spc="-110">
                <a:solidFill>
                  <a:srgbClr val="22373A"/>
                </a:solidFill>
                <a:latin typeface="Arial Black"/>
                <a:cs typeface="Arial Black"/>
              </a:rPr>
              <a:t>Densidad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22373A"/>
                </a:solidFill>
                <a:latin typeface="Arial Black"/>
                <a:cs typeface="Arial Black"/>
              </a:rPr>
              <a:t>Oferta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120">
                <a:solidFill>
                  <a:srgbClr val="22373A"/>
                </a:solidFill>
                <a:latin typeface="Arial Black"/>
                <a:cs typeface="Arial Black"/>
              </a:rPr>
              <a:t>en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Origen</a:t>
            </a:r>
            <a:r>
              <a:rPr dirty="0" sz="9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 Black"/>
                <a:cs typeface="Arial Black"/>
              </a:rPr>
              <a:t>(</a:t>
            </a:r>
            <a:r>
              <a:rPr dirty="0" sz="900" spc="-30">
                <a:solidFill>
                  <a:srgbClr val="22373A"/>
                </a:solidFill>
                <a:latin typeface="Georgia"/>
                <a:cs typeface="Georgia"/>
              </a:rPr>
              <a:t>𝛽</a:t>
            </a:r>
            <a:r>
              <a:rPr dirty="0" baseline="-23148" sz="900" spc="-44">
                <a:solidFill>
                  <a:srgbClr val="22373A"/>
                </a:solidFill>
                <a:latin typeface="Georgia"/>
                <a:cs typeface="Georgia"/>
              </a:rPr>
              <a:t>3</a:t>
            </a:r>
            <a:r>
              <a:rPr dirty="0" baseline="-23148" sz="900" spc="254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135">
                <a:solidFill>
                  <a:srgbClr val="22373A"/>
                </a:solidFill>
                <a:latin typeface="Georgia"/>
                <a:cs typeface="Georgia"/>
              </a:rPr>
              <a:t>=</a:t>
            </a:r>
            <a:r>
              <a:rPr dirty="0" sz="900" spc="35">
                <a:solidFill>
                  <a:srgbClr val="22373A"/>
                </a:solidFill>
                <a:latin typeface="Georgia"/>
                <a:cs typeface="Georgia"/>
              </a:rPr>
              <a:t> </a:t>
            </a:r>
            <a:r>
              <a:rPr dirty="0" sz="900" spc="45">
                <a:solidFill>
                  <a:srgbClr val="22373A"/>
                </a:solidFill>
                <a:latin typeface="Georgia"/>
                <a:cs typeface="Georgia"/>
              </a:rPr>
              <a:t>+0.172</a:t>
            </a:r>
            <a:r>
              <a:rPr dirty="0" sz="900" spc="45">
                <a:solidFill>
                  <a:srgbClr val="22373A"/>
                </a:solidFill>
                <a:latin typeface="Arial Black"/>
                <a:cs typeface="Arial Black"/>
              </a:rPr>
              <a:t>)</a:t>
            </a:r>
            <a:r>
              <a:rPr dirty="0" sz="900" spc="4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endParaRPr sz="900">
              <a:latin typeface="Arial MT"/>
              <a:cs typeface="Arial MT"/>
            </a:endParaRPr>
          </a:p>
          <a:p>
            <a:pPr lvl="1" marL="586740" marR="448309" indent="-163195">
              <a:lnSpc>
                <a:spcPct val="114599"/>
              </a:lnSpc>
              <a:spcBef>
                <a:spcPts val="20"/>
              </a:spcBef>
              <a:buChar char="•"/>
              <a:tabLst>
                <a:tab pos="586740" algn="l"/>
                <a:tab pos="591185" algn="l"/>
              </a:tabLst>
            </a:pP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	Un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incremento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marginal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tiempo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por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cada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parada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alternativa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origen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(congestión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local).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Resultados:</a:t>
            </a:r>
            <a:r>
              <a:rPr dirty="0" spc="155"/>
              <a:t> </a:t>
            </a:r>
            <a:r>
              <a:rPr dirty="0" spc="-150"/>
              <a:t>Clusters</a:t>
            </a:r>
            <a:r>
              <a:rPr dirty="0" spc="35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55"/>
              <a:t>Exclusión</a:t>
            </a:r>
            <a:r>
              <a:rPr dirty="0" spc="35"/>
              <a:t> </a:t>
            </a:r>
            <a:r>
              <a:rPr dirty="0" spc="-30"/>
              <a:t>(HDBSCAN)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736890"/>
            <a:ext cx="5033645" cy="1754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98120" algn="l"/>
              </a:tabLst>
            </a:pP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Clúster</a:t>
            </a:r>
            <a:r>
              <a:rPr dirty="0" sz="11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 Black"/>
                <a:cs typeface="Arial Black"/>
              </a:rPr>
              <a:t>0:</a:t>
            </a:r>
            <a:r>
              <a:rPr dirty="0" sz="1100" spc="6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Periferia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 Black"/>
                <a:cs typeface="Arial Black"/>
              </a:rPr>
              <a:t>Crítica</a:t>
            </a:r>
            <a:endParaRPr sz="1100">
              <a:latin typeface="Arial Black"/>
              <a:cs typeface="Arial Black"/>
            </a:endParaRPr>
          </a:p>
          <a:p>
            <a:pPr lvl="1" marL="289560" marR="590550" indent="-160655">
              <a:lnSpc>
                <a:spcPct val="116700"/>
              </a:lnSpc>
              <a:spcBef>
                <a:spcPts val="1175"/>
              </a:spcBef>
              <a:buFont typeface="Arial MT"/>
              <a:buChar char="•"/>
              <a:tabLst>
                <a:tab pos="289560" algn="l"/>
              </a:tabLst>
            </a:pP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Características</a:t>
            </a:r>
            <a:r>
              <a:rPr dirty="0" sz="900" spc="-10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r>
              <a:rPr dirty="0" sz="900" spc="8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Tarifa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 MT"/>
                <a:cs typeface="Arial MT"/>
              </a:rPr>
              <a:t>Social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promedio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de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 Black"/>
                <a:cs typeface="Arial Black"/>
              </a:rPr>
              <a:t>45%</a:t>
            </a:r>
            <a:r>
              <a:rPr dirty="0" sz="900" spc="-30">
                <a:solidFill>
                  <a:srgbClr val="22373A"/>
                </a:solidFill>
                <a:latin typeface="Arial MT"/>
                <a:cs typeface="Arial MT"/>
              </a:rPr>
              <a:t>,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 IFI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e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IFT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 MT"/>
                <a:cs typeface="Arial MT"/>
              </a:rPr>
              <a:t>elevados,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 MT"/>
                <a:cs typeface="Arial MT"/>
              </a:rPr>
              <a:t>cercanía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de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red </a:t>
            </a:r>
            <a:r>
              <a:rPr dirty="0" sz="900" spc="-30">
                <a:solidFill>
                  <a:srgbClr val="22373A"/>
                </a:solidFill>
                <a:latin typeface="Arial MT"/>
                <a:cs typeface="Arial MT"/>
              </a:rPr>
              <a:t>extremadamente</a:t>
            </a:r>
            <a:r>
              <a:rPr dirty="0" sz="900" spc="7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baja.</a:t>
            </a:r>
            <a:endParaRPr sz="900">
              <a:latin typeface="Arial MT"/>
              <a:cs typeface="Arial MT"/>
            </a:endParaRPr>
          </a:p>
          <a:p>
            <a:pPr lvl="1" marL="289560" marR="5080" indent="-160655">
              <a:lnSpc>
                <a:spcPct val="116700"/>
              </a:lnSpc>
              <a:buFont typeface="Arial MT"/>
              <a:buChar char="•"/>
              <a:tabLst>
                <a:tab pos="289560" algn="l"/>
              </a:tabLst>
            </a:pP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Localización</a:t>
            </a:r>
            <a:r>
              <a:rPr dirty="0" sz="900" spc="-9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r>
              <a:rPr dirty="0" sz="900" spc="8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 MT"/>
                <a:cs typeface="Arial MT"/>
              </a:rPr>
              <a:t>Zonas</a:t>
            </a:r>
            <a:r>
              <a:rPr dirty="0" sz="900" spc="-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periféricas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de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 PBA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(Florencio</a:t>
            </a:r>
            <a:r>
              <a:rPr dirty="0" sz="900" spc="-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Varela,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 Merlo, Moreno).</a:t>
            </a:r>
            <a:r>
              <a:rPr dirty="0" sz="900" spc="8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Máximo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aislamiento estructural.</a:t>
            </a:r>
            <a:endParaRPr sz="9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22373A"/>
              </a:buClr>
              <a:buFont typeface="Arial MT"/>
              <a:buChar char="•"/>
            </a:pPr>
            <a:endParaRPr sz="90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buAutoNum type="arabicPeriod"/>
              <a:tabLst>
                <a:tab pos="198120" algn="l"/>
              </a:tabLst>
            </a:pP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Clúster</a:t>
            </a:r>
            <a:r>
              <a:rPr dirty="0" sz="11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 Black"/>
                <a:cs typeface="Arial Black"/>
              </a:rPr>
              <a:t>1:</a:t>
            </a:r>
            <a:r>
              <a:rPr dirty="0" sz="11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5">
                <a:solidFill>
                  <a:srgbClr val="22373A"/>
                </a:solidFill>
                <a:latin typeface="Arial Black"/>
                <a:cs typeface="Arial Black"/>
              </a:rPr>
              <a:t>Nodos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 Black"/>
                <a:cs typeface="Arial Black"/>
              </a:rPr>
              <a:t>Conectores</a:t>
            </a:r>
            <a:endParaRPr sz="1100">
              <a:latin typeface="Arial Black"/>
              <a:cs typeface="Arial Black"/>
            </a:endParaRPr>
          </a:p>
          <a:p>
            <a:pPr lvl="1" marL="289560" indent="-160020">
              <a:lnSpc>
                <a:spcPct val="100000"/>
              </a:lnSpc>
              <a:spcBef>
                <a:spcPts val="1360"/>
              </a:spcBef>
              <a:buFont typeface="Arial MT"/>
              <a:buChar char="•"/>
              <a:tabLst>
                <a:tab pos="289560" algn="l"/>
              </a:tabLst>
            </a:pPr>
            <a:r>
              <a:rPr dirty="0" sz="900" spc="-105">
                <a:solidFill>
                  <a:srgbClr val="22373A"/>
                </a:solidFill>
                <a:latin typeface="Arial Black"/>
                <a:cs typeface="Arial Black"/>
              </a:rPr>
              <a:t>Características</a:t>
            </a:r>
            <a:r>
              <a:rPr dirty="0" sz="900" spc="-10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r>
              <a:rPr dirty="0" sz="900" spc="22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 MT"/>
                <a:cs typeface="Arial MT"/>
              </a:rPr>
              <a:t>Centralidad</a:t>
            </a:r>
            <a:r>
              <a:rPr dirty="0" sz="900" spc="11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de</a:t>
            </a:r>
            <a:r>
              <a:rPr dirty="0" sz="900" spc="10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 MT"/>
                <a:cs typeface="Arial MT"/>
              </a:rPr>
              <a:t>intermediación</a:t>
            </a:r>
            <a:r>
              <a:rPr dirty="0" sz="900" spc="10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(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betweenness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)</a:t>
            </a:r>
            <a:r>
              <a:rPr dirty="0" sz="900" spc="11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máxima.</a:t>
            </a:r>
            <a:endParaRPr sz="900">
              <a:latin typeface="Arial MT"/>
              <a:cs typeface="Arial MT"/>
            </a:endParaRPr>
          </a:p>
          <a:p>
            <a:pPr lvl="1" marL="289560" indent="-16002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89560" algn="l"/>
              </a:tabLst>
            </a:pPr>
            <a:r>
              <a:rPr dirty="0" sz="900" spc="-95">
                <a:solidFill>
                  <a:srgbClr val="22373A"/>
                </a:solidFill>
                <a:latin typeface="Arial Black"/>
                <a:cs typeface="Arial Black"/>
              </a:rPr>
              <a:t>Localización</a:t>
            </a:r>
            <a:r>
              <a:rPr dirty="0" sz="900" spc="-95">
                <a:solidFill>
                  <a:srgbClr val="22373A"/>
                </a:solidFill>
                <a:latin typeface="Arial MT"/>
                <a:cs typeface="Arial MT"/>
              </a:rPr>
              <a:t>:</a:t>
            </a:r>
            <a:r>
              <a:rPr dirty="0" sz="900" spc="8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 MT"/>
                <a:cs typeface="Arial MT"/>
              </a:rPr>
              <a:t>Hubs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de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transferencia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críticos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(Constitución,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2373A"/>
                </a:solidFill>
                <a:latin typeface="Arial MT"/>
                <a:cs typeface="Arial MT"/>
              </a:rPr>
              <a:t>Retiro, </a:t>
            </a:r>
            <a:r>
              <a:rPr dirty="0" sz="900" spc="-20">
                <a:solidFill>
                  <a:srgbClr val="22373A"/>
                </a:solidFill>
                <a:latin typeface="Arial MT"/>
                <a:cs typeface="Arial MT"/>
              </a:rPr>
              <a:t>Once,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 MT"/>
                <a:cs typeface="Arial MT"/>
              </a:rPr>
              <a:t>Lanús,</a:t>
            </a:r>
            <a:r>
              <a:rPr dirty="0" sz="900" spc="5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 MT"/>
                <a:cs typeface="Arial MT"/>
              </a:rPr>
              <a:t>Morón).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Resultados:</a:t>
            </a:r>
            <a:r>
              <a:rPr dirty="0" spc="100"/>
              <a:t> </a:t>
            </a:r>
            <a:r>
              <a:rPr dirty="0" spc="-130"/>
              <a:t>Cluster</a:t>
            </a:r>
            <a:r>
              <a:rPr dirty="0" spc="30"/>
              <a:t> </a:t>
            </a:r>
            <a:r>
              <a:rPr dirty="0" spc="-120"/>
              <a:t>Centro</a:t>
            </a:r>
            <a:r>
              <a:rPr dirty="0" spc="20"/>
              <a:t> </a:t>
            </a:r>
            <a:r>
              <a:rPr dirty="0" spc="-135"/>
              <a:t>Consolidado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47294" y="813725"/>
            <a:ext cx="5031740" cy="1591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90"/>
              </a:spcBef>
              <a:buAutoNum type="arabicPeriod" startAt="3"/>
              <a:tabLst>
                <a:tab pos="198120" algn="l"/>
              </a:tabLst>
            </a:pPr>
            <a:r>
              <a:rPr dirty="0" sz="1100" spc="-120">
                <a:solidFill>
                  <a:srgbClr val="22373A"/>
                </a:solidFill>
                <a:latin typeface="Arial Black"/>
                <a:cs typeface="Arial Black"/>
              </a:rPr>
              <a:t>Clúster</a:t>
            </a:r>
            <a:r>
              <a:rPr dirty="0" sz="11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>
                <a:solidFill>
                  <a:srgbClr val="22373A"/>
                </a:solidFill>
                <a:latin typeface="Arial Black"/>
                <a:cs typeface="Arial Black"/>
              </a:rPr>
              <a:t>2:</a:t>
            </a:r>
            <a:r>
              <a:rPr dirty="0" sz="1100" spc="1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22373A"/>
                </a:solidFill>
                <a:latin typeface="Arial Black"/>
                <a:cs typeface="Arial Black"/>
              </a:rPr>
              <a:t>Centro</a:t>
            </a:r>
            <a:r>
              <a:rPr dirty="0" sz="1100" spc="2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 Black"/>
                <a:cs typeface="Arial Black"/>
              </a:rPr>
              <a:t>Consolidado</a:t>
            </a:r>
            <a:endParaRPr sz="1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22373A"/>
              </a:buClr>
              <a:buFont typeface="Arial Black"/>
              <a:buAutoNum type="arabicPeriod" startAt="3"/>
            </a:pPr>
            <a:endParaRPr sz="1100">
              <a:latin typeface="Arial Black"/>
              <a:cs typeface="Arial Black"/>
            </a:endParaRPr>
          </a:p>
          <a:p>
            <a:pPr lvl="1" marL="289560" indent="-167640">
              <a:lnSpc>
                <a:spcPct val="100000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70">
                <a:solidFill>
                  <a:srgbClr val="22373A"/>
                </a:solidFill>
                <a:latin typeface="Arial Black"/>
                <a:cs typeface="Arial Black"/>
              </a:rPr>
              <a:t>Características</a:t>
            </a:r>
            <a:r>
              <a:rPr dirty="0" sz="1000" spc="-7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lvl="2" marL="561975" indent="-163195">
              <a:lnSpc>
                <a:spcPct val="100000"/>
              </a:lnSpc>
              <a:spcBef>
                <a:spcPts val="175"/>
              </a:spcBef>
              <a:buChar char="•"/>
              <a:tabLst>
                <a:tab pos="561975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Tarifa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Social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muy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baja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(&lt;15%).</a:t>
            </a:r>
            <a:endParaRPr sz="1000">
              <a:latin typeface="Tahoma"/>
              <a:cs typeface="Tahoma"/>
            </a:endParaRPr>
          </a:p>
          <a:p>
            <a:pPr lvl="2" marL="566420" indent="-167640">
              <a:lnSpc>
                <a:spcPct val="100000"/>
              </a:lnSpc>
              <a:spcBef>
                <a:spcPts val="175"/>
              </a:spcBef>
              <a:buChar char="•"/>
              <a:tabLst>
                <a:tab pos="566420" algn="l"/>
              </a:tabLst>
            </a:pP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Centralidad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 cercanía 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(</a:t>
            </a:r>
            <a:r>
              <a:rPr dirty="0" sz="1000" spc="80">
                <a:solidFill>
                  <a:srgbClr val="22373A"/>
                </a:solidFill>
                <a:latin typeface="Times New Roman"/>
                <a:cs typeface="Times New Roman"/>
              </a:rPr>
              <a:t>closeness</a:t>
            </a:r>
            <a:r>
              <a:rPr dirty="0" sz="1000" spc="80">
                <a:solidFill>
                  <a:srgbClr val="22373A"/>
                </a:solidFill>
                <a:latin typeface="Tahoma"/>
                <a:cs typeface="Tahoma"/>
              </a:rPr>
              <a:t>)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máxima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grafo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transporte.</a:t>
            </a:r>
            <a:endParaRPr sz="1000">
              <a:latin typeface="Tahoma"/>
              <a:cs typeface="Tahoma"/>
            </a:endParaRPr>
          </a:p>
          <a:p>
            <a:pPr lvl="2" marL="566420" indent="-167640">
              <a:lnSpc>
                <a:spcPct val="100000"/>
              </a:lnSpc>
              <a:spcBef>
                <a:spcPts val="175"/>
              </a:spcBef>
              <a:buChar char="•"/>
              <a:tabLst>
                <a:tab pos="566420" algn="l"/>
              </a:tabLst>
            </a:pP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Índices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fricción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espacial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(IFI)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temporal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(IFT)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mínimos.</a:t>
            </a:r>
            <a:endParaRPr sz="1000">
              <a:latin typeface="Tahoma"/>
              <a:cs typeface="Tahoma"/>
            </a:endParaRPr>
          </a:p>
          <a:p>
            <a:pPr lvl="1" marL="289560" marR="5080" indent="-168275">
              <a:lnSpc>
                <a:spcPct val="114599"/>
              </a:lnSpc>
              <a:buFont typeface="Tahoma"/>
              <a:buChar char="•"/>
              <a:tabLst>
                <a:tab pos="289560" algn="l"/>
              </a:tabLst>
            </a:pPr>
            <a:r>
              <a:rPr dirty="0" sz="1000" spc="-110">
                <a:solidFill>
                  <a:srgbClr val="22373A"/>
                </a:solidFill>
                <a:latin typeface="Arial Black"/>
                <a:cs typeface="Arial Black"/>
              </a:rPr>
              <a:t>Localización</a:t>
            </a:r>
            <a:r>
              <a:rPr dirty="0" sz="1000" spc="-11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9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Ciudad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Buenos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Aires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(CABA),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corredor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norte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primer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cordón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oeste</a:t>
            </a:r>
            <a:r>
              <a:rPr dirty="0" sz="10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del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Conurbano.</a:t>
            </a:r>
            <a:endParaRPr sz="1000">
              <a:latin typeface="Tahoma"/>
              <a:cs typeface="Tahoma"/>
            </a:endParaRPr>
          </a:p>
          <a:p>
            <a:pPr lvl="1" marL="289560" indent="-167640">
              <a:lnSpc>
                <a:spcPct val="100000"/>
              </a:lnSpc>
              <a:spcBef>
                <a:spcPts val="175"/>
              </a:spcBef>
              <a:buFont typeface="Tahoma"/>
              <a:buChar char="•"/>
              <a:tabLst>
                <a:tab pos="289560" algn="l"/>
              </a:tabLst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Interpretación</a:t>
            </a:r>
            <a:r>
              <a:rPr dirty="0" sz="1000" spc="-10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000" spc="8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Acceso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rápido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directo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22373A"/>
                </a:solidFill>
                <a:latin typeface="Tahoma"/>
                <a:cs typeface="Tahoma"/>
              </a:rPr>
              <a:t>mayor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concentración</a:t>
            </a:r>
            <a:r>
              <a:rPr dirty="0" sz="10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empleo.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5"/>
              <a:t>Perfiles</a:t>
            </a:r>
            <a:r>
              <a:rPr dirty="0" spc="50"/>
              <a:t> </a:t>
            </a:r>
            <a:r>
              <a:rPr dirty="0" spc="-160"/>
              <a:t>de</a:t>
            </a:r>
            <a:r>
              <a:rPr dirty="0" spc="50"/>
              <a:t> </a:t>
            </a:r>
            <a:r>
              <a:rPr dirty="0" spc="-155"/>
              <a:t>Exclusión</a:t>
            </a:r>
            <a:r>
              <a:rPr dirty="0" spc="50"/>
              <a:t> </a:t>
            </a:r>
            <a:r>
              <a:rPr dirty="0" spc="-125"/>
              <a:t>por</a:t>
            </a:r>
            <a:r>
              <a:rPr dirty="0" spc="55"/>
              <a:t> </a:t>
            </a:r>
            <a:r>
              <a:rPr dirty="0" spc="-13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423" y="612786"/>
            <a:ext cx="2077167" cy="17309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6661" y="2415329"/>
            <a:ext cx="4627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Figure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2:</a:t>
            </a:r>
            <a:r>
              <a:rPr dirty="0" sz="1000" spc="5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Curvas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 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densidad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probabilidad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IFI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0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IFT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para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los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clusters</a:t>
            </a:r>
            <a:r>
              <a:rPr dirty="0" sz="10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obtenidos.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0"/>
              <a:t>Conclusiones</a:t>
            </a:r>
            <a:r>
              <a:rPr dirty="0" spc="55"/>
              <a:t> </a:t>
            </a:r>
            <a:r>
              <a:rPr dirty="0" spc="-150"/>
              <a:t>y</a:t>
            </a:r>
            <a:r>
              <a:rPr dirty="0" spc="60"/>
              <a:t> </a:t>
            </a:r>
            <a:r>
              <a:rPr dirty="0" spc="-170"/>
              <a:t>Recomendaciones</a:t>
            </a:r>
            <a:r>
              <a:rPr dirty="0" spc="60"/>
              <a:t> </a:t>
            </a:r>
            <a:r>
              <a:rPr dirty="0" spc="-160"/>
              <a:t>de</a:t>
            </a:r>
            <a:r>
              <a:rPr dirty="0" spc="55"/>
              <a:t> </a:t>
            </a:r>
            <a:r>
              <a:rPr dirty="0" spc="-120"/>
              <a:t>Planificación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09002"/>
            <a:ext cx="4914900" cy="26676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solidFill>
                  <a:srgbClr val="22373A"/>
                </a:solidFill>
                <a:latin typeface="Arial Black"/>
                <a:cs typeface="Arial Black"/>
              </a:rPr>
              <a:t>Conclusiones</a:t>
            </a:r>
            <a:endParaRPr sz="1100">
              <a:latin typeface="Arial Black"/>
              <a:cs typeface="Arial Black"/>
            </a:endParaRPr>
          </a:p>
          <a:p>
            <a:pPr marL="286385" marR="18415" indent="-173990">
              <a:lnSpc>
                <a:spcPct val="118000"/>
              </a:lnSpc>
              <a:spcBef>
                <a:spcPts val="820"/>
              </a:spcBef>
              <a:buChar char="•"/>
              <a:tabLst>
                <a:tab pos="286385" algn="l"/>
                <a:tab pos="290195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Se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evidencia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un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patrón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socio-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espacial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claro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en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22373A"/>
                </a:solidFill>
                <a:latin typeface="Tahoma"/>
                <a:cs typeface="Tahoma"/>
              </a:rPr>
              <a:t>AMBA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donde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las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poblaciones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vulnerables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pagan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Tahoma"/>
                <a:cs typeface="Tahoma"/>
              </a:rPr>
              <a:t>mayor</a:t>
            </a:r>
            <a:r>
              <a:rPr dirty="0" sz="1100" spc="-1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costo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físico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transbordos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su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movilidad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diaria.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18000"/>
              </a:lnSpc>
              <a:buChar char="•"/>
              <a:tabLst>
                <a:tab pos="289560" algn="l"/>
              </a:tabLst>
            </a:pP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análisis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estructural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red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transporte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clustering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multidimensional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permiten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identificar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y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priorizar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las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intervenciones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urbanas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con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base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cuantitativa.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100" spc="-90">
                <a:solidFill>
                  <a:srgbClr val="22373A"/>
                </a:solidFill>
                <a:latin typeface="Arial Black"/>
                <a:cs typeface="Arial Black"/>
              </a:rPr>
              <a:t>Recomendaciones</a:t>
            </a:r>
            <a:endParaRPr sz="1100">
              <a:latin typeface="Arial Black"/>
              <a:cs typeface="Arial Black"/>
            </a:endParaRPr>
          </a:p>
          <a:p>
            <a:pPr marL="289560" marR="71120" indent="-177165">
              <a:lnSpc>
                <a:spcPct val="118000"/>
              </a:lnSpc>
              <a:spcBef>
                <a:spcPts val="819"/>
              </a:spcBef>
              <a:buFont typeface="Tahoma"/>
              <a:buAutoNum type="arabicPeriod"/>
              <a:tabLst>
                <a:tab pos="289560" algn="l"/>
              </a:tabLst>
            </a:pPr>
            <a:r>
              <a:rPr dirty="0" sz="1100" spc="-155">
                <a:solidFill>
                  <a:srgbClr val="22373A"/>
                </a:solidFill>
                <a:latin typeface="Arial Black"/>
                <a:cs typeface="Arial Black"/>
              </a:rPr>
              <a:t>Rediseño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de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25">
                <a:solidFill>
                  <a:srgbClr val="22373A"/>
                </a:solidFill>
                <a:latin typeface="Arial Black"/>
                <a:cs typeface="Arial Black"/>
              </a:rPr>
              <a:t>Recorridos</a:t>
            </a:r>
            <a:r>
              <a:rPr dirty="0" sz="1100" spc="-12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Crear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corredores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transversales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conurbano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para mitigar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embudo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radial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hacia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CABA.</a:t>
            </a:r>
            <a:endParaRPr sz="1100">
              <a:latin typeface="Tahoma"/>
              <a:cs typeface="Tahoma"/>
            </a:endParaRPr>
          </a:p>
          <a:p>
            <a:pPr marL="289560" marR="175895" indent="-177165">
              <a:lnSpc>
                <a:spcPct val="118000"/>
              </a:lnSpc>
              <a:buFont typeface="Tahoma"/>
              <a:buAutoNum type="arabicPeriod"/>
              <a:tabLst>
                <a:tab pos="289560" algn="l"/>
              </a:tabLst>
            </a:pPr>
            <a:r>
              <a:rPr dirty="0" sz="1100" spc="-114">
                <a:solidFill>
                  <a:srgbClr val="22373A"/>
                </a:solidFill>
                <a:latin typeface="Arial Black"/>
                <a:cs typeface="Arial Black"/>
              </a:rPr>
              <a:t>Mitigación</a:t>
            </a:r>
            <a:r>
              <a:rPr dirty="0" sz="11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60">
                <a:solidFill>
                  <a:srgbClr val="22373A"/>
                </a:solidFill>
                <a:latin typeface="Arial Black"/>
                <a:cs typeface="Arial Black"/>
              </a:rPr>
              <a:t>en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05">
                <a:solidFill>
                  <a:srgbClr val="22373A"/>
                </a:solidFill>
                <a:latin typeface="Arial Black"/>
                <a:cs typeface="Arial Black"/>
              </a:rPr>
              <a:t>Nodos</a:t>
            </a:r>
            <a:r>
              <a:rPr dirty="0" sz="1100" spc="-105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Mejorar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la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infraestructura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física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información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los Nodos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Tahoma"/>
                <a:cs typeface="Tahoma"/>
              </a:rPr>
              <a:t>Conectores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con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alta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intermediación.</a:t>
            </a:r>
            <a:endParaRPr sz="1100">
              <a:latin typeface="Tahoma"/>
              <a:cs typeface="Tahoma"/>
            </a:endParaRPr>
          </a:p>
          <a:p>
            <a:pPr marL="289560" marR="231140" indent="-177165">
              <a:lnSpc>
                <a:spcPct val="118000"/>
              </a:lnSpc>
              <a:buFont typeface="Tahoma"/>
              <a:buAutoNum type="arabicPeriod"/>
              <a:tabLst>
                <a:tab pos="289560" algn="l"/>
              </a:tabLst>
            </a:pPr>
            <a:r>
              <a:rPr dirty="0" sz="1100" spc="-150">
                <a:solidFill>
                  <a:srgbClr val="22373A"/>
                </a:solidFill>
                <a:latin typeface="Arial Black"/>
                <a:cs typeface="Arial Black"/>
              </a:rPr>
              <a:t>Subsidios</a:t>
            </a:r>
            <a:r>
              <a:rPr dirty="0" sz="1100" spc="3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22373A"/>
                </a:solidFill>
                <a:latin typeface="Arial Black"/>
                <a:cs typeface="Arial Black"/>
              </a:rPr>
              <a:t>Focalizados</a:t>
            </a:r>
            <a:r>
              <a:rPr dirty="0" sz="1100" spc="-13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r>
              <a:rPr dirty="0" sz="1100" spc="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Direccionar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Tahoma"/>
                <a:cs typeface="Tahoma"/>
              </a:rPr>
              <a:t>políticas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tarifarias</a:t>
            </a:r>
            <a:r>
              <a:rPr dirty="0" sz="1100" spc="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Tahoma"/>
                <a:cs typeface="Tahoma"/>
              </a:rPr>
              <a:t>adicionales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Tahoma"/>
                <a:cs typeface="Tahoma"/>
              </a:rPr>
              <a:t>sobre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Tahoma"/>
                <a:cs typeface="Tahoma"/>
              </a:rPr>
              <a:t>los </a:t>
            </a:r>
            <a:r>
              <a:rPr dirty="0" sz="1100" spc="-60">
                <a:solidFill>
                  <a:srgbClr val="22373A"/>
                </a:solidFill>
                <a:latin typeface="Tahoma"/>
                <a:cs typeface="Tahoma"/>
              </a:rPr>
              <a:t>hexágonos</a:t>
            </a:r>
            <a:r>
              <a:rPr dirty="0" sz="1100" spc="-30">
                <a:solidFill>
                  <a:srgbClr val="22373A"/>
                </a:solidFill>
                <a:latin typeface="Tahoma"/>
                <a:cs typeface="Tahoma"/>
              </a:rPr>
              <a:t> identificados</a:t>
            </a:r>
            <a:r>
              <a:rPr dirty="0" sz="1100" spc="-55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100" spc="-5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100" spc="-4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100" spc="-35" i="1">
                <a:solidFill>
                  <a:srgbClr val="22373A"/>
                </a:solidFill>
                <a:latin typeface="Arial"/>
                <a:cs typeface="Arial"/>
              </a:rPr>
              <a:t>Clúster</a:t>
            </a:r>
            <a:r>
              <a:rPr dirty="0" sz="1100" spc="-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22373A"/>
                </a:solidFill>
                <a:latin typeface="Arial"/>
                <a:cs typeface="Arial"/>
              </a:rPr>
              <a:t>Periferia</a:t>
            </a:r>
            <a:r>
              <a:rPr dirty="0" sz="1100" spc="-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22373A"/>
                </a:solidFill>
                <a:latin typeface="Arial"/>
                <a:cs typeface="Arial"/>
              </a:rPr>
              <a:t>Crítica</a:t>
            </a:r>
            <a:r>
              <a:rPr dirty="0" sz="1100" spc="-10">
                <a:solidFill>
                  <a:srgbClr val="22373A"/>
                </a:solidFill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8685" y="2989159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solidFill>
                  <a:srgbClr val="22373A"/>
                </a:solidFill>
                <a:latin typeface="Arial MT"/>
                <a:cs typeface="Arial MT"/>
              </a:rPr>
              <a:t>15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29895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0"/>
              <a:t>Anexo:</a:t>
            </a:r>
            <a:r>
              <a:rPr dirty="0" spc="105"/>
              <a:t> </a:t>
            </a:r>
            <a:r>
              <a:rPr dirty="0" spc="-110"/>
              <a:t>Mapa</a:t>
            </a:r>
            <a:r>
              <a:rPr dirty="0" spc="20"/>
              <a:t> </a:t>
            </a:r>
            <a:r>
              <a:rPr dirty="0" spc="-160"/>
              <a:t>de</a:t>
            </a:r>
            <a:r>
              <a:rPr dirty="0" spc="35"/>
              <a:t> </a:t>
            </a:r>
            <a:r>
              <a:rPr dirty="0" spc="-125"/>
              <a:t>Flujos</a:t>
            </a:r>
            <a:r>
              <a:rPr dirty="0" spc="25"/>
              <a:t> </a:t>
            </a:r>
            <a:r>
              <a:rPr dirty="0" spc="-150"/>
              <a:t>y</a:t>
            </a:r>
            <a:r>
              <a:rPr dirty="0" spc="35"/>
              <a:t> </a:t>
            </a:r>
            <a:r>
              <a:rPr dirty="0" spc="-155"/>
              <a:t>Accesibilidad</a:t>
            </a:r>
            <a:r>
              <a:rPr dirty="0" spc="35"/>
              <a:t> </a:t>
            </a:r>
            <a:r>
              <a:rPr dirty="0" spc="-25"/>
              <a:t>H3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010" y="468238"/>
            <a:ext cx="3914225" cy="20179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1905" y="2557746"/>
            <a:ext cx="371665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5">
                <a:solidFill>
                  <a:srgbClr val="22373A"/>
                </a:solidFill>
                <a:latin typeface="Arial Black"/>
                <a:cs typeface="Arial Black"/>
              </a:rPr>
              <a:t>Figure</a:t>
            </a:r>
            <a:r>
              <a:rPr dirty="0" sz="1000" spc="2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Arial Black"/>
                <a:cs typeface="Arial Black"/>
              </a:rPr>
              <a:t>3:</a:t>
            </a:r>
            <a:r>
              <a:rPr dirty="0" sz="1000" spc="95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Mapa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22373A"/>
                </a:solidFill>
                <a:latin typeface="Tahoma"/>
                <a:cs typeface="Tahoma"/>
              </a:rPr>
              <a:t>Hexagonal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H3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Tahoma"/>
                <a:cs typeface="Tahoma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22373A"/>
                </a:solidFill>
                <a:latin typeface="Tahoma"/>
                <a:cs typeface="Tahoma"/>
              </a:rPr>
              <a:t>Transacciones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SUBE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2373A"/>
                </a:solidFill>
                <a:latin typeface="Tahoma"/>
                <a:cs typeface="Tahoma"/>
              </a:rPr>
              <a:t>en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2373A"/>
                </a:solidFill>
                <a:latin typeface="Tahoma"/>
                <a:cs typeface="Tahoma"/>
              </a:rPr>
              <a:t>el</a:t>
            </a:r>
            <a:r>
              <a:rPr dirty="0" sz="1000" spc="-1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22373A"/>
                </a:solidFill>
                <a:latin typeface="Tahoma"/>
                <a:cs typeface="Tahoma"/>
              </a:rPr>
              <a:t>AMBA.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8685" y="2989159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>
                <a:solidFill>
                  <a:srgbClr val="22373A"/>
                </a:solidFill>
                <a:latin typeface="Arial MT"/>
                <a:cs typeface="Arial MT"/>
              </a:rPr>
              <a:t>16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Augusto Rey</dc:creator>
  <dc:title>Matriz de Origen-Destino de Transporte Público - Presentación de Avances e Integración de Feedback (TP3)</dc:title>
  <dcterms:created xsi:type="dcterms:W3CDTF">2026-06-11T15:47:14Z</dcterms:created>
  <dcterms:modified xsi:type="dcterms:W3CDTF">2026-06-11T15:47:14Z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2026-06-11T00:00:00Z</vt:filetime>
  </property>
  <property fmtid="{D5CDD505-2E9C-101B-9397-08002B2CF9AE}" pid="4" name="Creator">
    <vt:lpwstr>LaTeX via pandoc</vt:lpwstr>
  </property>
  <property fmtid="{D5CDD505-2E9C-101B-9397-08002B2CF9AE}" pid="5" name="Producer">
    <vt:lpwstr>xdvipdfmx (20250410)</vt:lpwstr>
  </property>
  <property fmtid="{D5CDD505-2E9C-101B-9397-08002B2CF9AE}" pid="6" name="LastSaved">
    <vt:filetime>2026-06-11T00:00:00Z</vt:filetime>
  </property>
</Properties>
</file>